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603504"/>
            <a:ext cx="3200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FITZSIGHT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170432"/>
            <a:ext cx="6858000" cy="182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100" b="1">
                <a:solidFill>
                  <a:srgbClr val="F6F8FC"/>
                </a:solidFill>
                <a:latin typeface="Liberation Sans"/>
              </a:rPr>
              <a:t>Evidence-grounded
Financial Operations
Intelligence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59436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AAB4C5"/>
                </a:solidFill>
                <a:latin typeface="Liberation Sans"/>
              </a:rPr>
              <a:t>Brokerage / FinTech Operations Analyst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86200"/>
            <a:ext cx="5669280" cy="658368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3886200"/>
            <a:ext cx="54864" cy="658368"/>
          </a:xfrm>
          <a:prstGeom prst="rect">
            <a:avLst/>
          </a:prstGeom>
          <a:solidFill>
            <a:srgbClr val="54D39B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995928"/>
            <a:ext cx="534924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6F8FC"/>
                </a:solidFill>
                <a:latin typeface="Liberation Sans"/>
              </a:rPr>
              <a:t>Autonomous investigation. Human decision.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822960"/>
            <a:ext cx="2514600" cy="621792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9912" y="932688"/>
            <a:ext cx="2368296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6F8FC"/>
                </a:solidFill>
                <a:latin typeface="Liberation Sans"/>
              </a:rPr>
              <a:t>QUESTION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28632" y="1444752"/>
            <a:ext cx="0" cy="256032"/>
          </a:xfrm>
          <a:prstGeom prst="line">
            <a:avLst/>
          </a:prstGeom>
          <a:ln w="1524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366760" y="1783080"/>
            <a:ext cx="2514600" cy="621792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2" y="1892808"/>
            <a:ext cx="2368296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6F8FC"/>
                </a:solidFill>
                <a:latin typeface="Liberation Sans"/>
              </a:rPr>
              <a:t>PLAN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28632" y="2404872"/>
            <a:ext cx="0" cy="256032"/>
          </a:xfrm>
          <a:prstGeom prst="line">
            <a:avLst/>
          </a:prstGeom>
          <a:ln w="1524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366760" y="2743200"/>
            <a:ext cx="2514600" cy="621792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912" y="2852928"/>
            <a:ext cx="2368296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6F8FC"/>
                </a:solidFill>
                <a:latin typeface="Liberation Sans"/>
              </a:rPr>
              <a:t>TOOLS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28632" y="3364992"/>
            <a:ext cx="0" cy="256032"/>
          </a:xfrm>
          <a:prstGeom prst="line">
            <a:avLst/>
          </a:prstGeom>
          <a:ln w="1524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66760" y="3703320"/>
            <a:ext cx="2514600" cy="621792"/>
          </a:xfrm>
          <a:prstGeom prst="roundRect">
            <a:avLst/>
          </a:prstGeom>
          <a:solidFill>
            <a:srgbClr val="141B2D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3813048"/>
            <a:ext cx="2368296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6F8FC"/>
                </a:solidFill>
                <a:latin typeface="Liberation Sans"/>
              </a:rPr>
              <a:t>EVIDENCE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28632" y="4325112"/>
            <a:ext cx="0" cy="256032"/>
          </a:xfrm>
          <a:prstGeom prst="line">
            <a:avLst/>
          </a:prstGeom>
          <a:ln w="1524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366760" y="4663440"/>
            <a:ext cx="2514600" cy="621792"/>
          </a:xfrm>
          <a:prstGeom prst="roundRect">
            <a:avLst/>
          </a:prstGeom>
          <a:solidFill>
            <a:srgbClr val="141B2D"/>
          </a:solidFill>
          <a:ln>
            <a:solidFill>
              <a:srgbClr val="A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4773168"/>
            <a:ext cx="2368296" cy="43891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6F8FC"/>
                </a:solidFill>
                <a:latin typeface="Liberation Sans"/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833872"/>
            <a:ext cx="62179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B4C5"/>
                </a:solidFill>
                <a:latin typeface="Liberation Sans"/>
              </a:rPr>
              <a:t>GOAI 2026 · Boundless Agents · AI+金融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5577840"/>
            <a:ext cx="3108960" cy="548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AAB4C5"/>
                </a:solidFill>
                <a:latin typeface="Liberation Sans"/>
              </a:rPr>
              <a:t>Not chat with a CSV.
A bounded investigation you can audit.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217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INDUSTRY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8FC"/>
                </a:solidFill>
                <a:latin typeface="Liberation Sans"/>
              </a:rPr>
              <a:t>Dashboards show what changed. The investigation behind why is still manual.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3716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Primary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01952"/>
            <a:ext cx="539496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6F8FC"/>
                </a:solidFill>
                <a:latin typeface="Liberation Sans"/>
              </a:rPr>
              <a:t>Brokerage / FinTech Operations Analyst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78608"/>
            <a:ext cx="2395728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310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272491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6F8FC"/>
                </a:solidFill>
                <a:latin typeface="Liberation Sans"/>
              </a:rPr>
              <a:t>Find 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578608"/>
            <a:ext cx="2395728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21024" y="2743200"/>
            <a:ext cx="310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208" y="272491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6F8FC"/>
                </a:solidFill>
                <a:latin typeface="Liberation Sans"/>
              </a:rPr>
              <a:t>Define KPI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578608"/>
            <a:ext cx="2395728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2743200"/>
            <a:ext cx="310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272491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6F8FC"/>
                </a:solidFill>
                <a:latin typeface="Liberation Sans"/>
              </a:rPr>
              <a:t>Compare periods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2578608"/>
            <a:ext cx="2395728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7424" y="2743200"/>
            <a:ext cx="310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6608" y="272491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6F8FC"/>
                </a:solidFill>
                <a:latin typeface="Liberation Sans"/>
              </a:rPr>
              <a:t>Drill drivers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538728"/>
            <a:ext cx="2395728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3703320"/>
            <a:ext cx="310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68503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6F8FC"/>
                </a:solidFill>
                <a:latin typeface="Liberation Sans"/>
              </a:rPr>
              <a:t>Test significance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0" y="3538728"/>
            <a:ext cx="2395728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3703320"/>
            <a:ext cx="310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0208" y="368503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6F8FC"/>
                </a:solidFill>
                <a:latin typeface="Liberation Sans"/>
              </a:rPr>
              <a:t>Inspect events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538728"/>
            <a:ext cx="2395728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4224" y="3703320"/>
            <a:ext cx="310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93408" y="368503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6F8FC"/>
                </a:solidFill>
                <a:latin typeface="Liberation Sans"/>
              </a:rPr>
              <a:t>Reconcile evidence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0" y="3538728"/>
            <a:ext cx="2395728" cy="658368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07424" y="3703320"/>
            <a:ext cx="3108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36608" y="3685032"/>
            <a:ext cx="1691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6F8FC"/>
                </a:solidFill>
                <a:latin typeface="Liberation Sans"/>
              </a:rPr>
              <a:t>Write report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709160"/>
            <a:ext cx="10744200" cy="804672"/>
          </a:xfrm>
          <a:prstGeom prst="roundRect">
            <a:avLst/>
          </a:prstGeom>
          <a:solidFill>
            <a:srgbClr val="1B243A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4709160"/>
            <a:ext cx="54864" cy="804672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818888"/>
            <a:ext cx="10424160" cy="6035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A generic LLM can write a plausible explanation quickly. Financial operations needs a reproducible evidence chain before narrative.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742432"/>
            <a:ext cx="1965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820156"/>
            <a:ext cx="1783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58D3FF"/>
                </a:solidFill>
                <a:latin typeface="Liberation Sans"/>
              </a:rPr>
              <a:t>acquisition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907792" y="5907024"/>
            <a:ext cx="749808" cy="0"/>
          </a:xfrm>
          <a:prstGeom prst="line">
            <a:avLst/>
          </a:prstGeom>
          <a:ln w="1651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703320" y="5742432"/>
            <a:ext cx="214884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94759" y="5820156"/>
            <a:ext cx="19659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54D39B"/>
                </a:solidFill>
                <a:latin typeface="Liberation Sans"/>
              </a:rPr>
              <a:t>FTD conversion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879592" y="5907024"/>
            <a:ext cx="749808" cy="0"/>
          </a:xfrm>
          <a:prstGeom prst="line">
            <a:avLst/>
          </a:prstGeom>
          <a:ln w="1651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675120" y="5742432"/>
            <a:ext cx="233172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59" y="5820156"/>
            <a:ext cx="214883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FFC857"/>
                </a:solidFill>
                <a:latin typeface="Liberation Sans"/>
              </a:rPr>
              <a:t>client-fund flows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1160" y="5815584"/>
            <a:ext cx="182880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beachhead workflow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217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8FC"/>
                </a:solidFill>
                <a:latin typeface="Liberation Sans"/>
              </a:rPr>
              <a:t>FitzSight converts a business question into a verified decision-support investigation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148840"/>
            <a:ext cx="1417320" cy="749808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58568"/>
            <a:ext cx="1271016" cy="566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F6F8FC"/>
                </a:solidFill>
                <a:latin typeface="Liberation Sans"/>
              </a:rPr>
              <a:t>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2148840"/>
            <a:ext cx="1417320" cy="749808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2258568"/>
            <a:ext cx="1271016" cy="566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F6F8FC"/>
                </a:solidFill>
                <a:latin typeface="Liberation Sans"/>
              </a:rPr>
              <a:t>Constrained
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148840"/>
            <a:ext cx="1508760" cy="749808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2258568"/>
            <a:ext cx="1362456" cy="566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F6F8FC"/>
                </a:solidFill>
                <a:latin typeface="Liberation Sans"/>
              </a:rPr>
              <a:t>Deterministic
tools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82512" y="2148840"/>
            <a:ext cx="1417320" cy="749808"/>
          </a:xfrm>
          <a:prstGeom prst="roundRect">
            <a:avLst/>
          </a:prstGeom>
          <a:solidFill>
            <a:srgbClr val="141B2D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1271016" cy="566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F6F8FC"/>
                </a:solidFill>
                <a:latin typeface="Liberation Sans"/>
              </a:rPr>
              <a:t>Evidence
graph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02752" y="2148840"/>
            <a:ext cx="1234440" cy="749808"/>
          </a:xfrm>
          <a:prstGeom prst="roundRect">
            <a:avLst/>
          </a:prstGeom>
          <a:solidFill>
            <a:srgbClr val="141B2D"/>
          </a:solidFill>
          <a:ln>
            <a:solidFill>
              <a:srgbClr val="A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2258568"/>
            <a:ext cx="1088136" cy="566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F6F8FC"/>
                </a:solidFill>
                <a:latin typeface="Liberation Sans"/>
              </a:rPr>
              <a:t>Verifier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148840"/>
            <a:ext cx="1554480" cy="749808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31552" y="2258568"/>
            <a:ext cx="1408176" cy="566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F6F8FC"/>
                </a:solidFill>
                <a:latin typeface="Liberation Sans"/>
              </a:rPr>
              <a:t>Verified
answer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84248" y="2523744"/>
            <a:ext cx="438912" cy="0"/>
          </a:xfrm>
          <a:prstGeom prst="line">
            <a:avLst/>
          </a:prstGeom>
          <a:ln w="1651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04488" y="2523744"/>
            <a:ext cx="438912" cy="0"/>
          </a:xfrm>
          <a:prstGeom prst="line">
            <a:avLst/>
          </a:prstGeom>
          <a:ln w="1651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916168" y="2523744"/>
            <a:ext cx="402336" cy="0"/>
          </a:xfrm>
          <a:prstGeom prst="line">
            <a:avLst/>
          </a:prstGeom>
          <a:ln w="1651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799832" y="2523744"/>
            <a:ext cx="438912" cy="0"/>
          </a:xfrm>
          <a:prstGeom prst="line">
            <a:avLst/>
          </a:prstGeom>
          <a:ln w="1651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537192" y="2523744"/>
            <a:ext cx="457200" cy="0"/>
          </a:xfrm>
          <a:prstGeom prst="line">
            <a:avLst/>
          </a:prstGeom>
          <a:ln w="1651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31520" y="3429000"/>
            <a:ext cx="10744200" cy="822960"/>
          </a:xfrm>
          <a:prstGeom prst="roundRect">
            <a:avLst/>
          </a:prstGeom>
          <a:solidFill>
            <a:srgbClr val="1B243A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429000"/>
            <a:ext cx="54864" cy="822960"/>
          </a:xfrm>
          <a:prstGeom prst="rect">
            <a:avLst/>
          </a:prstGeom>
          <a:solidFill>
            <a:srgbClr val="58D3FF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38728"/>
            <a:ext cx="10424160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6F8FC"/>
                </a:solidFill>
                <a:latin typeface="Liberation Sans"/>
              </a:rPr>
              <a:t>The model may select the next approved analytical branch. It never owns business arithmetic, arbitrary SQL, or high-impact financial actions.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617720"/>
            <a:ext cx="3291840" cy="109728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754880"/>
            <a:ext cx="29626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Planner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047488"/>
            <a:ext cx="296265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8D3FF"/>
                </a:solidFill>
                <a:latin typeface="Liberation Sans"/>
              </a:rPr>
              <a:t>Approved actions 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" y="5404104"/>
            <a:ext cx="29626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Bounded adaptivity; local intent gate first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24528" y="4617720"/>
            <a:ext cx="3291840" cy="109728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4754880"/>
            <a:ext cx="29626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Calculation authority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5047488"/>
            <a:ext cx="296265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4D39B"/>
                </a:solidFill>
                <a:latin typeface="Liberation Sans"/>
              </a:rPr>
              <a:t>Read-only SQL / Python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404104"/>
            <a:ext cx="29626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Every competition-facing number is executable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4617720"/>
            <a:ext cx="3749039" cy="109728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1271" y="4754880"/>
            <a:ext cx="34198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Answer authority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1271" y="5047488"/>
            <a:ext cx="341985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D8DFF"/>
                </a:solidFill>
                <a:latin typeface="Liberation Sans"/>
              </a:rPr>
              <a:t>EvidenceClaimVerifier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91271" y="5404104"/>
            <a:ext cx="34198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Verification failure → attribution withheld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217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BOUNDED-ADAPTIVE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8FC"/>
                </a:solidFill>
                <a:latin typeface="Liberation Sans"/>
              </a:rPr>
              <a:t>Hero journey — evidence selects the next approved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07592"/>
            <a:ext cx="105156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B4C5"/>
                </a:solidFill>
                <a:latin typeface="Liberation Sans"/>
              </a:rPr>
              <a:t>Question: “Why did European FTD conversion deteriorate after July 15?”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83480" y="1664208"/>
            <a:ext cx="6492240" cy="4498848"/>
          </a:xfrm>
          <a:prstGeom prst="roundRect">
            <a:avLst/>
          </a:prstGeom>
          <a:solidFill>
            <a:srgbClr val="FFFFFF"/>
          </a:solidFill>
          <a:ln>
            <a:solidFill>
              <a:srgbClr val="D2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tzSight_Hero_Run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2026824"/>
            <a:ext cx="6492240" cy="377361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783080"/>
            <a:ext cx="3886200" cy="96012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20240"/>
            <a:ext cx="355701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Actual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55701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8D3FF"/>
                </a:solidFill>
                <a:latin typeface="Liberation Sans"/>
              </a:rPr>
              <a:t>9 approved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32304"/>
            <a:ext cx="355701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Rendered from the verified v0.12 run JSON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07792"/>
            <a:ext cx="3886200" cy="530352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035808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Contribution drilldown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017520"/>
            <a:ext cx="16459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4D39B"/>
                </a:solidFill>
                <a:latin typeface="Liberation Sans"/>
              </a:rPr>
              <a:t>executed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3886200" cy="530352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694176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Latency / anomaly scan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3675887"/>
            <a:ext cx="16459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54D39B"/>
                </a:solidFill>
                <a:latin typeface="Liberation Sans"/>
              </a:rPr>
              <a:t>executed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224528"/>
            <a:ext cx="3886200" cy="530352"/>
          </a:xfrm>
          <a:prstGeom prst="roundRect">
            <a:avLst/>
          </a:prstGeom>
          <a:solidFill>
            <a:srgbClr val="141B2D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352544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Operational event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4334256"/>
            <a:ext cx="16459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FFC857"/>
                </a:solidFill>
                <a:latin typeface="Liberation Sans"/>
              </a:rPr>
              <a:t>executed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882896"/>
            <a:ext cx="3886200" cy="530352"/>
          </a:xfrm>
          <a:prstGeom prst="roundRect">
            <a:avLst/>
          </a:prstGeom>
          <a:solidFill>
            <a:srgbClr val="141B2D"/>
          </a:solidFill>
          <a:ln>
            <a:solidFill>
              <a:srgbClr val="A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010912"/>
            <a:ext cx="17830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Document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992624"/>
            <a:ext cx="16459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1050" b="1">
                <a:solidFill>
                  <a:srgbClr val="AD8DFF"/>
                </a:solidFill>
                <a:latin typeface="Liberation Sans"/>
              </a:rPr>
              <a:t>CRM-CHANGE-2026-0715#p1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669280"/>
            <a:ext cx="3886200" cy="530352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669280"/>
            <a:ext cx="54864" cy="530352"/>
          </a:xfrm>
          <a:prstGeom prst="rect">
            <a:avLst/>
          </a:prstGeom>
          <a:solidFill>
            <a:srgbClr val="54D39B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779008"/>
            <a:ext cx="3566160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F6F8FC"/>
                </a:solidFill>
                <a:latin typeface="Liberation Sans"/>
              </a:rPr>
              <a:t>Result-driven branching ≠ unrestricted autonomy. Every next step remains inside the approved action catalog.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217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VERIFIED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8FC"/>
                </a:solidFill>
                <a:latin typeface="Liberation Sans"/>
              </a:rPr>
              <a:t>Hero finding — evidence supports a CRM routing candidate, not a proven causal 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965960" cy="1170432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163677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Affected FTD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075688"/>
            <a:ext cx="163677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6B6B"/>
                </a:solidFill>
                <a:latin typeface="Liberation Sans"/>
              </a:rPr>
              <a:t>-7.53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05456"/>
            <a:ext cx="163677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Europe Team A+B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965960" cy="1170432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99232" y="1783080"/>
            <a:ext cx="163677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9232" y="2075688"/>
            <a:ext cx="163677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C857"/>
                </a:solidFill>
                <a:latin typeface="Liberation Sans"/>
              </a:rPr>
              <a:t>-1.21 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2505456"/>
            <a:ext cx="163677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Other Europe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645920"/>
            <a:ext cx="1965960" cy="1170432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02352" y="1783080"/>
            <a:ext cx="163677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Response median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2352" y="2075688"/>
            <a:ext cx="163677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6B6B"/>
                </a:solidFill>
                <a:latin typeface="Liberation Sans"/>
              </a:rPr>
              <a:t>+29.15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1645920"/>
            <a:ext cx="1965960" cy="1170432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1783080"/>
            <a:ext cx="163677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Top contributor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2" y="2075688"/>
            <a:ext cx="163677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8D3FF"/>
                </a:solidFill>
                <a:latin typeface="Liberation Sans"/>
              </a:rPr>
              <a:t>Team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5472" y="2505456"/>
            <a:ext cx="163677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contribution -1.87 pp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645920"/>
            <a:ext cx="2331720" cy="1170432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08592" y="1783080"/>
            <a:ext cx="200253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Root-cause 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8592" y="2075688"/>
            <a:ext cx="200253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4D39B"/>
                </a:solidFill>
                <a:latin typeface="Liberation Sans"/>
              </a:rPr>
              <a:t>supported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08592" y="2505456"/>
            <a:ext cx="200253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candidate · not causal proof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77840" y="3017520"/>
            <a:ext cx="589788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D2DA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FitzSight_Hero_Run_Ans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721" y="3017520"/>
            <a:ext cx="5558117" cy="283464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31520" y="3017520"/>
            <a:ext cx="4526280" cy="28346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218688"/>
            <a:ext cx="19202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Evidence chain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639312"/>
            <a:ext cx="15087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AAB4C5"/>
                </a:solidFill>
                <a:latin typeface="Liberation Sans"/>
              </a:rPr>
              <a:t>Quantitative shift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639312"/>
            <a:ext cx="24231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80" b="0">
                <a:solidFill>
                  <a:srgbClr val="F6F8FC"/>
                </a:solidFill>
                <a:latin typeface="Liberation Sans"/>
              </a:rPr>
              <a:t>Affected -7.53 pp vs control -1.21 pp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968496"/>
            <a:ext cx="15087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AAB4C5"/>
                </a:solidFill>
                <a:latin typeface="Liberation Sans"/>
              </a:rPr>
              <a:t>Latency signal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3968496"/>
            <a:ext cx="24231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80" b="0">
                <a:solidFill>
                  <a:srgbClr val="F6F8FC"/>
                </a:solidFill>
                <a:latin typeface="Liberation Sans"/>
              </a:rPr>
              <a:t>Median response +29.15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297680"/>
            <a:ext cx="15087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AAB4C5"/>
                </a:solidFill>
                <a:latin typeface="Liberation Sans"/>
              </a:rPr>
              <a:t>Contribution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4297680"/>
            <a:ext cx="24231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80" b="0">
                <a:solidFill>
                  <a:srgbClr val="F6F8FC"/>
                </a:solidFill>
                <a:latin typeface="Liberation Sans"/>
              </a:rPr>
              <a:t>Team A is largest negative contributor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626864"/>
            <a:ext cx="15087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AAB4C5"/>
                </a:solidFill>
                <a:latin typeface="Liberation Sans"/>
              </a:rPr>
              <a:t>Robust anomaly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4600" y="4626864"/>
            <a:ext cx="24231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80" b="0">
                <a:solidFill>
                  <a:srgbClr val="F6F8FC"/>
                </a:solidFill>
                <a:latin typeface="Liberation Sans"/>
              </a:rPr>
              <a:t>8 post-change high-anomaly days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956048"/>
            <a:ext cx="15087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AAB4C5"/>
                </a:solidFill>
                <a:latin typeface="Liberation Sans"/>
              </a:rPr>
              <a:t>Operational context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4600" y="4956048"/>
            <a:ext cx="24231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80" b="0">
                <a:solidFill>
                  <a:srgbClr val="F6F8FC"/>
                </a:solidFill>
                <a:latin typeface="Liberation Sans"/>
              </a:rPr>
              <a:t>Nearby CRM routing event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285231"/>
            <a:ext cx="150876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19" b="1">
                <a:solidFill>
                  <a:srgbClr val="AAB4C5"/>
                </a:solidFill>
                <a:latin typeface="Liberation Sans"/>
              </a:rPr>
              <a:t>Source-addressable doc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5285231"/>
            <a:ext cx="24231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80" b="0">
                <a:solidFill>
                  <a:srgbClr val="F6F8FC"/>
                </a:solidFill>
                <a:latin typeface="Liberation Sans"/>
              </a:rPr>
              <a:t>CRM-CHANGE-2026-0715#p1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217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FAIL CLOSED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8FC"/>
                </a:solidFill>
                <a:latin typeface="Liberation Sans"/>
              </a:rPr>
              <a:t>Failure branch — error evidence ends attribution, not the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07592"/>
            <a:ext cx="105156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B4C5"/>
                </a:solidFill>
                <a:latin typeface="Liberation Sans"/>
              </a:rPr>
              <a:t>Tested dependency failure: the operational-event lookup raises an error Evidence record.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48840"/>
            <a:ext cx="1645920" cy="804672"/>
          </a:xfrm>
          <a:prstGeom prst="roundRect">
            <a:avLst/>
          </a:prstGeom>
          <a:solidFill>
            <a:srgbClr val="141B2D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258568"/>
            <a:ext cx="1499616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>
                <a:solidFill>
                  <a:srgbClr val="F6F8FC"/>
                </a:solidFill>
                <a:latin typeface="Liberation Sans"/>
              </a:rPr>
              <a:t>event_check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31720" y="2551176"/>
            <a:ext cx="182880" cy="0"/>
          </a:xfrm>
          <a:prstGeom prst="line">
            <a:avLst/>
          </a:prstGeom>
          <a:ln w="1524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60320" y="2148840"/>
            <a:ext cx="1645920" cy="804672"/>
          </a:xfrm>
          <a:prstGeom prst="roundRect">
            <a:avLst/>
          </a:prstGeom>
          <a:solidFill>
            <a:srgbClr val="141B2D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2258568"/>
            <a:ext cx="1499616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>
                <a:solidFill>
                  <a:srgbClr val="F6F8FC"/>
                </a:solidFill>
                <a:latin typeface="Liberation Sans"/>
              </a:rPr>
              <a:t>error Evidence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06240" y="2551176"/>
            <a:ext cx="182880" cy="0"/>
          </a:xfrm>
          <a:prstGeom prst="line">
            <a:avLst/>
          </a:prstGeom>
          <a:ln w="1524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434840" y="2148840"/>
            <a:ext cx="1965960" cy="804672"/>
          </a:xfrm>
          <a:prstGeom prst="roundRect">
            <a:avLst/>
          </a:prstGeom>
          <a:solidFill>
            <a:srgbClr val="141B2D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258568"/>
            <a:ext cx="1819656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>
                <a:solidFill>
                  <a:srgbClr val="F6F8FC"/>
                </a:solidFill>
                <a:latin typeface="Liberation Sans"/>
              </a:rPr>
              <a:t>no document corroboration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0" y="2551176"/>
            <a:ext cx="182880" cy="0"/>
          </a:xfrm>
          <a:prstGeom prst="line">
            <a:avLst/>
          </a:prstGeom>
          <a:ln w="1524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629400" y="2148840"/>
            <a:ext cx="1965960" cy="804672"/>
          </a:xfrm>
          <a:prstGeom prst="roundRect">
            <a:avLst/>
          </a:prstGeom>
          <a:solidFill>
            <a:srgbClr val="141B2D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02552" y="2258568"/>
            <a:ext cx="1819656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>
                <a:solidFill>
                  <a:srgbClr val="F6F8FC"/>
                </a:solidFill>
                <a:latin typeface="Liberation Sans"/>
              </a:rPr>
              <a:t>insufficient_evidence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551176"/>
            <a:ext cx="182880" cy="0"/>
          </a:xfrm>
          <a:prstGeom prst="line">
            <a:avLst/>
          </a:prstGeom>
          <a:ln w="15240">
            <a:solidFill>
              <a:srgbClr val="AAB4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23960" y="2148840"/>
            <a:ext cx="1920240" cy="804672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97112" y="2258568"/>
            <a:ext cx="1773936" cy="6217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>
                <a:solidFill>
                  <a:srgbClr val="F6F8FC"/>
                </a:solidFill>
                <a:latin typeface="Liberation Sans"/>
              </a:rPr>
              <a:t>verified bounded answer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703320"/>
            <a:ext cx="5120640" cy="1417320"/>
          </a:xfrm>
          <a:prstGeom prst="roundRect">
            <a:avLst/>
          </a:prstGeom>
          <a:solidFill>
            <a:srgbClr val="141B2D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931920"/>
            <a:ext cx="14630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6B6B"/>
                </a:solidFill>
                <a:latin typeface="Liberation Sans"/>
              </a:rPr>
              <a:t>What fails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4526280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6F8FC"/>
                </a:solidFill>
                <a:latin typeface="Liberation Sans"/>
              </a:rPr>
              <a:t>Operational-event dependency is unavailable. The system records the error and does not manufacture event or document corroboration.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303520" cy="1417320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931920"/>
            <a:ext cx="17373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4D39B"/>
                </a:solidFill>
                <a:latin typeface="Liberation Sans"/>
              </a:rPr>
              <a:t>What still succeeds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315968"/>
            <a:ext cx="4572000" cy="5669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6F8FC"/>
                </a:solidFill>
                <a:latin typeface="Liberation Sans"/>
              </a:rPr>
              <a:t>The evidence-backed metric findings remain valid; EvidenceClaimVerifier passes a guarded answer whose root_cause_status is insufficient_evidence.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596128"/>
            <a:ext cx="10744200" cy="594360"/>
          </a:xfrm>
          <a:prstGeom prst="roundRect">
            <a:avLst/>
          </a:prstGeom>
          <a:solidFill>
            <a:srgbClr val="1B243A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5596128"/>
            <a:ext cx="54864" cy="594360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05856"/>
            <a:ext cx="10424160" cy="3931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6F8FC"/>
                </a:solidFill>
                <a:latin typeface="Liberation Sans"/>
              </a:rPr>
              <a:t>Agent quality is not “always finding a cause.” It is completing the task with the correct uncertainty boundary.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217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1 + 1 TRUST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8FC"/>
                </a:solidFill>
                <a:latin typeface="Liberation Sans"/>
              </a:rPr>
              <a:t>Refusal story — temporal proximity is not evidence of causality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07592"/>
            <a:ext cx="1051560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AB4C5"/>
                </a:solidFill>
                <a:latin typeface="Liberation Sans"/>
              </a:rPr>
              <a:t>Question: “Asia conversion fell after July 20. Did the nearby office relocation cause it?”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011680" cy="96012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16824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Asia FTD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168249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6B6B"/>
                </a:solidFill>
                <a:latin typeface="Liberation Sans"/>
              </a:rPr>
              <a:t>-8.13 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737360"/>
            <a:ext cx="2011680" cy="96012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1874519"/>
            <a:ext cx="16824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Affiliate FTD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4952" y="2167128"/>
            <a:ext cx="168249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6B6B"/>
                </a:solidFill>
                <a:latin typeface="Liberation Sans"/>
              </a:rPr>
              <a:t>-15.81 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737360"/>
            <a:ext cx="2011680" cy="96012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874519"/>
            <a:ext cx="16824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Affiliate 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3792" y="2167128"/>
            <a:ext cx="168249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4D39B"/>
                </a:solidFill>
                <a:latin typeface="Liberation Sans"/>
              </a:rPr>
              <a:t>0.00463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1737360"/>
            <a:ext cx="2011680" cy="96012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2631" y="1874519"/>
            <a:ext cx="168249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Nearby event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1" y="2167128"/>
            <a:ext cx="168249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C857"/>
                </a:solidFill>
                <a:latin typeface="Liberation Sans"/>
              </a:rPr>
              <a:t>Office Relocation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737360"/>
            <a:ext cx="2148840" cy="96012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91472" y="1874519"/>
            <a:ext cx="18196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Event causal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2167128"/>
            <a:ext cx="181965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4D39B"/>
                </a:solidFill>
                <a:latin typeface="Liberation Sans"/>
              </a:rPr>
              <a:t>FALSE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63240"/>
            <a:ext cx="5212080" cy="21488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" y="3310128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C857"/>
                </a:solidFill>
                <a:latin typeface="Liberation Sans"/>
              </a:rPr>
              <a:t>Tempting narrative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" y="3822191"/>
            <a:ext cx="1920240" cy="731520"/>
          </a:xfrm>
          <a:prstGeom prst="roundRect">
            <a:avLst/>
          </a:prstGeom>
          <a:solidFill>
            <a:srgbClr val="1B243A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3931920"/>
            <a:ext cx="1773936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Office relocation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53512" y="4187952"/>
            <a:ext cx="704088" cy="0"/>
          </a:xfrm>
          <a:prstGeom prst="line">
            <a:avLst/>
          </a:prstGeom>
          <a:ln w="17780">
            <a:solidFill>
              <a:srgbClr val="FFC8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03320" y="3822191"/>
            <a:ext cx="1508760" cy="731520"/>
          </a:xfrm>
          <a:prstGeom prst="roundRect">
            <a:avLst/>
          </a:prstGeom>
          <a:solidFill>
            <a:srgbClr val="1B243A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76472" y="3931920"/>
            <a:ext cx="1362456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Asia FTD 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7168" y="4736592"/>
            <a:ext cx="16459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6B6B"/>
                </a:solidFill>
                <a:latin typeface="Liberation Sans"/>
              </a:rPr>
              <a:t>REJECTED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063240"/>
            <a:ext cx="5212080" cy="21488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9672" y="3310128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Measured driver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3822191"/>
            <a:ext cx="2057400" cy="731520"/>
          </a:xfrm>
          <a:prstGeom prst="roundRect">
            <a:avLst/>
          </a:prstGeom>
          <a:solidFill>
            <a:srgbClr val="1B243A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6832" y="3931920"/>
            <a:ext cx="1911095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Affiliate quality ↓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86800" y="4187952"/>
            <a:ext cx="640080" cy="0"/>
          </a:xfrm>
          <a:prstGeom prst="line">
            <a:avLst/>
          </a:prstGeom>
          <a:ln w="17780">
            <a:solidFill>
              <a:srgbClr val="58D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372600" y="3822191"/>
            <a:ext cx="1508760" cy="731520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45752" y="3931920"/>
            <a:ext cx="1362456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6F8FC"/>
                </a:solidFill>
                <a:latin typeface="Liberation Sans"/>
              </a:rPr>
              <a:t>Supported driver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4736592"/>
            <a:ext cx="40233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54D39B"/>
                </a:solidFill>
                <a:latin typeface="Liberation Sans"/>
              </a:rPr>
              <a:t>false-correlation rejection = true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5605272"/>
            <a:ext cx="10744200" cy="585216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5605272"/>
            <a:ext cx="54864" cy="585216"/>
          </a:xfrm>
          <a:prstGeom prst="rect">
            <a:avLst/>
          </a:prstGeom>
          <a:solidFill>
            <a:srgbClr val="54D39B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715000"/>
            <a:ext cx="10424160" cy="38404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6F8FC"/>
                </a:solidFill>
                <a:latin typeface="Liberation Sans"/>
              </a:rPr>
              <a:t>FitzSight is evaluated on explanations it refuses to make — not only the answers it produces.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217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BREADTH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8FC"/>
                </a:solidFill>
                <a:latin typeface="Liberation Sans"/>
              </a:rPr>
              <a:t>Three additional workflows prove reuse — without diluting the hero narrative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744200" cy="1188720"/>
          </a:xfrm>
          <a:prstGeom prst="roundRect">
            <a:avLst/>
          </a:prstGeom>
          <a:solidFill>
            <a:srgbClr val="141B2D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801368"/>
            <a:ext cx="5029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C857"/>
                </a:solidFill>
                <a:latin typeface="Liberation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764792"/>
            <a:ext cx="21945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6F8FC"/>
                </a:solidFill>
                <a:latin typeface="Liberation Sans"/>
              </a:rPr>
              <a:t>Client-fund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64792"/>
            <a:ext cx="3246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AB4C5"/>
                </a:solidFill>
                <a:latin typeface="Liberation Sans"/>
              </a:rPr>
              <a:t>Net-deposit / withdrawal concentration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1764792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C857"/>
                </a:solidFill>
                <a:latin typeface="Liberation Sans"/>
              </a:rPr>
              <a:t>Net change -$187.8k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258568"/>
            <a:ext cx="90525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6F8FC"/>
                </a:solidFill>
                <a:latin typeface="Liberation Sans"/>
              </a:rPr>
              <a:t>Observed driver only; no customer-motive inference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744200" cy="1188720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282696"/>
            <a:ext cx="5029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246120"/>
            <a:ext cx="21945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6F8FC"/>
                </a:solidFill>
                <a:latin typeface="Liberation Sans"/>
              </a:rPr>
              <a:t>Customer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46120"/>
            <a:ext cx="3246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AB4C5"/>
                </a:solidFill>
                <a:latin typeface="Liberation Sans"/>
              </a:rPr>
              <a:t>Behavioral-value segmentation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246120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Coverage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739896"/>
            <a:ext cx="90525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6F8FC"/>
                </a:solidFill>
                <a:latin typeface="Liberation Sans"/>
              </a:rPr>
              <a:t>Descriptive only; no AML / credit / eligibility decisions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62856"/>
            <a:ext cx="10744200" cy="1188720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764024"/>
            <a:ext cx="5029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4D39B"/>
                </a:solidFill>
                <a:latin typeface="Liberation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727448"/>
            <a:ext cx="21945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6F8FC"/>
                </a:solidFill>
                <a:latin typeface="Liberation Sans"/>
              </a:rPr>
              <a:t>Acquisition quality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727448"/>
            <a:ext cx="32461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AB4C5"/>
                </a:solidFill>
                <a:latin typeface="Liberation Sans"/>
              </a:rPr>
              <a:t>Volume vs mix vs within-channel 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4727448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4D39B"/>
                </a:solidFill>
                <a:latin typeface="Liberation Sans"/>
              </a:rPr>
              <a:t>Leads +315% · FTD -10.84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221224"/>
            <a:ext cx="905256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6F8FC"/>
                </a:solidFill>
                <a:latin typeface="Liberation Sans"/>
              </a:rPr>
              <a:t>Separates more leads from better leads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6053328"/>
            <a:ext cx="10744200" cy="384048"/>
          </a:xfrm>
          <a:prstGeom prst="roundRect">
            <a:avLst/>
          </a:prstGeom>
          <a:solidFill>
            <a:srgbClr val="1B243A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6053328"/>
            <a:ext cx="54864" cy="384048"/>
          </a:xfrm>
          <a:prstGeom prst="rect">
            <a:avLst/>
          </a:prstGeom>
          <a:solidFill>
            <a:srgbClr val="58D3FF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163056"/>
            <a:ext cx="1042416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F6F8FC"/>
                </a:solidFill>
                <a:latin typeface="Liberation Sans"/>
              </a:rPr>
              <a:t>Main pitch = one complete investigation + one refusal. These workflows are reusable breadth, not five equal demo stories.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217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8FC"/>
                </a:solidFill>
                <a:latin typeface="Liberation Sans"/>
              </a:rPr>
              <a:t>Technical depth comes from explicit authority boundaries, not more Agent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72768"/>
            <a:ext cx="3337560" cy="1600200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37360"/>
            <a:ext cx="3840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8D3FF"/>
                </a:solidFill>
                <a:latin typeface="Liberation San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719072"/>
            <a:ext cx="246888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8FC"/>
                </a:solidFill>
                <a:latin typeface="Liberation Sans"/>
              </a:rPr>
              <a:t>Local intent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139696"/>
            <a:ext cx="242316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9" b="0">
                <a:solidFill>
                  <a:srgbClr val="AAB4C5"/>
                </a:solidFill>
                <a:latin typeface="Liberation Sans"/>
              </a:rPr>
              <a:t>Unsupported questions are refused before an external model call.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72768"/>
            <a:ext cx="3337560" cy="1600200"/>
          </a:xfrm>
          <a:prstGeom prst="roundRect">
            <a:avLst/>
          </a:prstGeom>
          <a:solidFill>
            <a:srgbClr val="141B2D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37360"/>
            <a:ext cx="3840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FFC857"/>
                </a:solidFill>
                <a:latin typeface="Liberation Sa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1719072"/>
            <a:ext cx="246888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8FC"/>
                </a:solidFill>
                <a:latin typeface="Liberation Sans"/>
              </a:rPr>
              <a:t>Constrained planner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83480" y="2139696"/>
            <a:ext cx="242316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9" b="0">
                <a:solidFill>
                  <a:srgbClr val="AAB4C5"/>
                </a:solidFill>
                <a:latin typeface="Liberation Sans"/>
              </a:rPr>
              <a:t>Only approved high-level actions. No planner-generated SQL or arbitrary tool parameters.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72768"/>
            <a:ext cx="3337560" cy="1600200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2" y="1737360"/>
            <a:ext cx="3840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4D39B"/>
                </a:solidFill>
                <a:latin typeface="Liberation San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719072"/>
            <a:ext cx="246888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8FC"/>
                </a:solidFill>
                <a:latin typeface="Liberation Sans"/>
              </a:rPr>
              <a:t>Deterministic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2139696"/>
            <a:ext cx="242316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9" b="0">
                <a:solidFill>
                  <a:srgbClr val="AAB4C5"/>
                </a:solidFill>
                <a:latin typeface="Liberation Sans"/>
              </a:rPr>
              <a:t>Read-only SQL / Python own KPI calculations, tests, decompositions and anomaly checks.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30168"/>
            <a:ext cx="3337560" cy="1600200"/>
          </a:xfrm>
          <a:prstGeom prst="roundRect">
            <a:avLst/>
          </a:prstGeom>
          <a:solidFill>
            <a:srgbClr val="141B2D"/>
          </a:solidFill>
          <a:ln>
            <a:solidFill>
              <a:srgbClr val="AD8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794759"/>
            <a:ext cx="3840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AD8DFF"/>
                </a:solidFill>
                <a:latin typeface="Liberation San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776472"/>
            <a:ext cx="246888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8FC"/>
                </a:solidFill>
                <a:latin typeface="Liberation Sans"/>
              </a:rPr>
              <a:t>Source-addressable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197096"/>
            <a:ext cx="242316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9" b="0">
                <a:solidFill>
                  <a:srgbClr val="AAB4C5"/>
                </a:solidFill>
                <a:latin typeface="Liberation Sans"/>
              </a:rPr>
              <a:t>Tool outputs and synthetic operational documents enter one append-only Evidence Registry.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3630168"/>
            <a:ext cx="3337560" cy="1600200"/>
          </a:xfrm>
          <a:prstGeom prst="roundRect">
            <a:avLst/>
          </a:prstGeom>
          <a:solidFill>
            <a:srgbClr val="141B2D"/>
          </a:solidFill>
          <a:ln>
            <a:solidFill>
              <a:srgbClr val="58D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3794759"/>
            <a:ext cx="3840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8D3FF"/>
                </a:solidFill>
                <a:latin typeface="Liberation San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3480" y="3776472"/>
            <a:ext cx="246888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8FC"/>
                </a:solidFill>
                <a:latin typeface="Liberation Sans"/>
              </a:rPr>
              <a:t>EvidenceClaimVerifier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4197096"/>
            <a:ext cx="242316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9" b="0">
                <a:solidFill>
                  <a:srgbClr val="AAB4C5"/>
                </a:solidFill>
                <a:latin typeface="Liberation Sans"/>
              </a:rPr>
              <a:t>Checks evidence integrity, _gt boundary and causal language before result delivery.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630168"/>
            <a:ext cx="3337560" cy="1600200"/>
          </a:xfrm>
          <a:prstGeom prst="roundRect">
            <a:avLst/>
          </a:prstGeom>
          <a:solidFill>
            <a:srgbClr val="141B2D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3794759"/>
            <a:ext cx="3840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4D39B"/>
                </a:solidFill>
                <a:latin typeface="Liberation Sans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776472"/>
            <a:ext cx="2468880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6F8FC"/>
                </a:solidFill>
                <a:latin typeface="Liberation Sans"/>
              </a:rPr>
              <a:t>Human decision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97096"/>
            <a:ext cx="242316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19" b="0">
                <a:solidFill>
                  <a:srgbClr val="AAB4C5"/>
                </a:solidFill>
                <a:latin typeface="Liberation Sans"/>
              </a:rPr>
              <a:t>No trading, AML, credit, suitability or other high-impact financial decisions.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715000"/>
            <a:ext cx="10744200" cy="548640"/>
          </a:xfrm>
          <a:prstGeom prst="roundRect">
            <a:avLst/>
          </a:prstGeom>
          <a:solidFill>
            <a:srgbClr val="1B243A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5715000"/>
            <a:ext cx="54864" cy="548640"/>
          </a:xfrm>
          <a:prstGeom prst="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824728"/>
            <a:ext cx="10424160" cy="3474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F6F8FC"/>
                </a:solidFill>
                <a:latin typeface="Liberation Sans"/>
              </a:rPr>
              <a:t>Verification failure is a product state: FitzSight may finish with a guarded answer or withhold the unsupported attribution.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217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EVALUATION &amp;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8FC"/>
                </a:solidFill>
                <a:latin typeface="Liberation Sans"/>
              </a:rPr>
              <a:t>Evaluation v2 asks whether the system generalizes — and whether the safety architecture matters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2103120" cy="10058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37360"/>
            <a:ext cx="177393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Fixed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029967"/>
            <a:ext cx="177393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4D39B"/>
                </a:solidFill>
                <a:latin typeface="Liberation Sans"/>
              </a:rPr>
              <a:t>5 / 5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600200"/>
            <a:ext cx="2103120" cy="10058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36392" y="1737360"/>
            <a:ext cx="177393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Holdout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36392" y="2029967"/>
            <a:ext cx="177393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4D39B"/>
                </a:solidFill>
                <a:latin typeface="Liberation Sans"/>
              </a:rPr>
              <a:t>8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6392" y="2295144"/>
            <a:ext cx="177393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Unseen seeds + question paraphrases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1600200"/>
            <a:ext cx="2103120" cy="10058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76672" y="1737360"/>
            <a:ext cx="177393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Routing 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6672" y="2029967"/>
            <a:ext cx="177393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8D3FF"/>
                </a:solidFill>
                <a:latin typeface="Liberation Sans"/>
              </a:rPr>
              <a:t>100%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1600200"/>
            <a:ext cx="2103120" cy="10058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16952" y="1737360"/>
            <a:ext cx="177393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Evidence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16952" y="2029967"/>
            <a:ext cx="177393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4D39B"/>
                </a:solidFill>
                <a:latin typeface="Liberation Sans"/>
              </a:rPr>
              <a:t>100%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600200"/>
            <a:ext cx="1783080" cy="10058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57232" y="1737360"/>
            <a:ext cx="1453895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Supported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2029967"/>
            <a:ext cx="1453895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C857"/>
                </a:solidFill>
                <a:latin typeface="Liberation Sans"/>
              </a:rPr>
              <a:t>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57232" y="2295144"/>
            <a:ext cx="1453895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1 CRM seed correctly insufficient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2971800"/>
            <a:ext cx="5257800" cy="233172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218688"/>
            <a:ext cx="256032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C857"/>
                </a:solidFill>
                <a:latin typeface="Liberation Sans"/>
              </a:rPr>
              <a:t>Adversarial release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639312"/>
            <a:ext cx="210312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4D39B"/>
                </a:solidFill>
                <a:latin typeface="Liberation Sans"/>
              </a:rPr>
              <a:t>8 / 8 PASS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0120" y="4169663"/>
            <a:ext cx="1965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247388"/>
            <a:ext cx="1783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scope refusal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0" y="4169663"/>
            <a:ext cx="1965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4247388"/>
            <a:ext cx="1783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planner policy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" y="4517136"/>
            <a:ext cx="1965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4594859"/>
            <a:ext cx="1783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evidence integrity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0" y="4517136"/>
            <a:ext cx="1965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91840" y="4594859"/>
            <a:ext cx="1783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causal overclaim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" y="4864607"/>
            <a:ext cx="1965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942331"/>
            <a:ext cx="1783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_gt leak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4864607"/>
            <a:ext cx="1965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4942331"/>
            <a:ext cx="1783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false correlation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2971800"/>
            <a:ext cx="5212080" cy="233172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218688"/>
            <a:ext cx="3291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D8DFF"/>
                </a:solidFill>
                <a:latin typeface="Liberation Sans"/>
              </a:rPr>
              <a:t>Controlled architecture ablation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3675887"/>
            <a:ext cx="173736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AAB4C5"/>
                </a:solidFill>
                <a:latin typeface="Liberation Sans"/>
              </a:rPr>
              <a:t>Full FitzSight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3630168"/>
            <a:ext cx="1005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2000" b="1">
                <a:solidFill>
                  <a:srgbClr val="54D39B"/>
                </a:solidFill>
                <a:latin typeface="Liberation Sans"/>
              </a:rPr>
              <a:t>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1240" y="3685032"/>
            <a:ext cx="11430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AB4C5"/>
                </a:solidFill>
                <a:latin typeface="Liberation Sans"/>
              </a:rPr>
              <a:t>adversarial refusal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279392"/>
            <a:ext cx="237744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AAB4C5"/>
                </a:solidFill>
                <a:latin typeface="Liberation Sans"/>
              </a:rPr>
              <a:t>No verifier/evidence gate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23960" y="4224528"/>
            <a:ext cx="1005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2000" b="1">
                <a:solidFill>
                  <a:srgbClr val="FF6B6B"/>
                </a:solidFill>
                <a:latin typeface="Liberation Sans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4288536"/>
            <a:ext cx="11887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AAB4C5"/>
                </a:solidFill>
                <a:latin typeface="Liberation Sans"/>
              </a:rPr>
              <a:t>unsafe-answer 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4828032"/>
            <a:ext cx="44805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FC857"/>
                </a:solidFill>
                <a:latin typeface="Liberation Sans"/>
              </a:rPr>
              <a:t>This is a controlled architecture ablation — not a Generic LLM baseline.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669280"/>
            <a:ext cx="10744200" cy="566928"/>
          </a:xfrm>
          <a:prstGeom prst="roundRect">
            <a:avLst/>
          </a:prstGeom>
          <a:solidFill>
            <a:srgbClr val="1B243A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5669280"/>
            <a:ext cx="54864" cy="566928"/>
          </a:xfrm>
          <a:prstGeom prst="rect">
            <a:avLst/>
          </a:prstGeom>
          <a:solidFill>
            <a:srgbClr val="FFC857"/>
          </a:solidFill>
          <a:ln>
            <a:solidFill>
              <a:srgbClr val="FFC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5779008"/>
            <a:ext cx="10424160" cy="3657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60" b="1">
                <a:solidFill>
                  <a:srgbClr val="F6F8FC"/>
                </a:solidFill>
                <a:latin typeface="Liberation Sans"/>
              </a:rPr>
              <a:t>One unseen CRM seed returning insufficient_evidence is retained as a robustness success, not hidden to make the metric look perfect.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21792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58D3FF"/>
                </a:solidFill>
                <a:latin typeface="Liberation Sans"/>
              </a:rPr>
              <a:t>AI +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8136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6F8FC"/>
                </a:solidFill>
                <a:latin typeface="Liberation Sans"/>
              </a:rPr>
              <a:t>Safety, traceability and open reuse are explicit product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257800" cy="44348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856231"/>
            <a:ext cx="20116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4D39B"/>
                </a:solidFill>
                <a:latin typeface="Liberation Sans"/>
              </a:rPr>
              <a:t>Implemented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2267712"/>
            <a:ext cx="46177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60" b="0">
                <a:solidFill>
                  <a:srgbClr val="F6F8FC"/>
                </a:solidFill>
                <a:latin typeface="Liberation Sans"/>
              </a:rPr>
              <a:t>• Synthetic benchmark data; no real customer PII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706624"/>
            <a:ext cx="46177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60" b="0">
                <a:solidFill>
                  <a:srgbClr val="F6F8FC"/>
                </a:solidFill>
                <a:latin typeface="Liberation Sans"/>
              </a:rPr>
              <a:t>• Read-only analytical path with deterministic fallback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145536"/>
            <a:ext cx="46177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60" b="0">
                <a:solidFill>
                  <a:srgbClr val="F6F8FC"/>
                </a:solidFill>
                <a:latin typeface="Liberation Sans"/>
              </a:rPr>
              <a:t>• Evidence Registry + source/paragraph document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584448"/>
            <a:ext cx="46177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60" b="0">
                <a:solidFill>
                  <a:srgbClr val="F6F8FC"/>
                </a:solidFill>
                <a:latin typeface="Liberation Sans"/>
              </a:rPr>
              <a:t>• Causal-language guardrail and fail-closed verifier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023360"/>
            <a:ext cx="46177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60" b="0">
                <a:solidFill>
                  <a:srgbClr val="F6F8FC"/>
                </a:solidFill>
                <a:latin typeface="Liberation Sans"/>
              </a:rPr>
              <a:t>• No investment advice, trading or account 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4462272"/>
            <a:ext cx="46177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60" b="0">
                <a:solidFill>
                  <a:srgbClr val="F6F8FC"/>
                </a:solidFill>
                <a:latin typeface="Liberation Sans"/>
              </a:rPr>
              <a:t>• No automated AML, credit or suitability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901183"/>
            <a:ext cx="4617720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60" b="0">
                <a:solidFill>
                  <a:srgbClr val="F6F8FC"/>
                </a:solidFill>
                <a:latin typeface="Liberation Sans"/>
              </a:rPr>
              <a:t>• MIT license + public repo + tests + benchmark catalog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00200"/>
            <a:ext cx="5212080" cy="443484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856231"/>
            <a:ext cx="44805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C857"/>
                </a:solidFill>
                <a:latin typeface="Liberation Sans"/>
              </a:rPr>
              <a:t>Production blueprint — not claimed as implemented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331720"/>
            <a:ext cx="4251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409444"/>
            <a:ext cx="4069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Identity / RBAC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807208"/>
            <a:ext cx="4251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884932"/>
            <a:ext cx="4069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Row- and field-level policy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282696"/>
            <a:ext cx="4251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3360420"/>
            <a:ext cx="4069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PII masking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3758183"/>
            <a:ext cx="4251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35907"/>
            <a:ext cx="4069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Retention / enterprise audit controls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4233672"/>
            <a:ext cx="4251960" cy="329184"/>
          </a:xfrm>
          <a:prstGeom prst="roundRect">
            <a:avLst/>
          </a:prstGeom>
          <a:solidFill>
            <a:srgbClr val="1B243A"/>
          </a:solidFill>
          <a:ln>
            <a:solidFill>
              <a:srgbClr val="1B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4311396"/>
            <a:ext cx="406908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AAB4C5"/>
                </a:solidFill>
                <a:latin typeface="Liberation Sans"/>
              </a:rPr>
              <a:t>Approved business-system connectors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60" y="4983480"/>
            <a:ext cx="4480560" cy="713232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37960" y="4983480"/>
            <a:ext cx="54864" cy="713232"/>
          </a:xfrm>
          <a:prstGeom prst="rect">
            <a:avLst/>
          </a:prstGeom>
          <a:solidFill>
            <a:srgbClr val="54D39B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5093208"/>
            <a:ext cx="4160520" cy="51206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1">
                <a:solidFill>
                  <a:srgbClr val="F6F8FC"/>
                </a:solidFill>
                <a:latin typeface="Liberation Sans"/>
              </a:rPr>
              <a:t>Financial boundary: evidence-grounded decision support. The authorized analyst or institution retains the final judgment.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21792"/>
            <a:ext cx="274320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8D3FF"/>
                </a:solidFill>
                <a:latin typeface="Liberation Sans"/>
              </a:rPr>
              <a:t>FITZSIGHT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417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900" b="1">
                <a:solidFill>
                  <a:srgbClr val="F6F8FC"/>
                </a:solidFill>
                <a:latin typeface="Liberation Sans"/>
              </a:rPr>
              <a:t>BI tells you what changed.
FitzSight investigates what the evidence supports — and what it does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127248"/>
            <a:ext cx="6583680" cy="749808"/>
          </a:xfrm>
          <a:prstGeom prst="roundRect">
            <a:avLst/>
          </a:prstGeom>
          <a:solidFill>
            <a:srgbClr val="1B243A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3127248"/>
            <a:ext cx="54864" cy="749808"/>
          </a:xfrm>
          <a:prstGeom prst="rect">
            <a:avLst/>
          </a:prstGeom>
          <a:solidFill>
            <a:srgbClr val="54D39B"/>
          </a:solidFill>
          <a:ln>
            <a:solidFill>
              <a:srgbClr val="54D3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36976"/>
            <a:ext cx="6263640" cy="5486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6F8FC"/>
                </a:solidFill>
                <a:latin typeface="Liberation Sans"/>
              </a:rPr>
              <a:t>Autonomous investigation. Human decision.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15968"/>
            <a:ext cx="237744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4453128"/>
            <a:ext cx="20482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Hero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4745736"/>
            <a:ext cx="204825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8D3FF"/>
                </a:solidFill>
                <a:latin typeface="Liberation Sans"/>
              </a:rPr>
              <a:t>CRM / FTD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5056631"/>
            <a:ext cx="20482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bounded-adaptive investigation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4315968"/>
            <a:ext cx="237744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4453128"/>
            <a:ext cx="20482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Trust 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745736"/>
            <a:ext cx="204825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C857"/>
                </a:solidFill>
                <a:latin typeface="Liberation Sans"/>
              </a:rPr>
              <a:t>False correlation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056631"/>
            <a:ext cx="20482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refuses unsupported causality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88736" y="4315968"/>
            <a:ext cx="237744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3328" y="4453128"/>
            <a:ext cx="20482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Holdout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4745736"/>
            <a:ext cx="204825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4D39B"/>
                </a:solidFill>
                <a:latin typeface="Liberation Sans"/>
              </a:rPr>
              <a:t>8 /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5056631"/>
            <a:ext cx="20482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routed + verified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67344" y="4315968"/>
            <a:ext cx="2971800" cy="1051560"/>
          </a:xfrm>
          <a:prstGeom prst="roundRect">
            <a:avLst/>
          </a:prstGeom>
          <a:solidFill>
            <a:srgbClr val="141B2D"/>
          </a:solidFill>
          <a:ln>
            <a:solidFill>
              <a:srgbClr val="141B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31936" y="4453128"/>
            <a:ext cx="264261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AB4C5"/>
                </a:solidFill>
                <a:latin typeface="Liberation Sans"/>
              </a:rPr>
              <a:t>Evidence 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1936" y="4745736"/>
            <a:ext cx="2642616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54D39B"/>
                </a:solidFill>
                <a:latin typeface="Liberation Sans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1936" y="5056631"/>
            <a:ext cx="264261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AAB4C5"/>
                </a:solidFill>
                <a:latin typeface="Liberation Sans"/>
              </a:rPr>
              <a:t>synthetic benchmark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70448"/>
            <a:ext cx="1014984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AAB4C5"/>
                </a:solidFill>
                <a:latin typeface="Liberation Sans"/>
              </a:rPr>
              <a:t>A reproducible financial investigation you can inspect, verify, challenge — and sometimes refuse.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519672"/>
            <a:ext cx="8778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AB4C5"/>
                </a:solidFill>
                <a:latin typeface="Liberation Sans"/>
              </a:rPr>
              <a:t>FitzSight · GOAI 2026 · Boundless Agents · AI+金融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4572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AAB4C5"/>
                </a:solidFill>
                <a:latin typeface="Liberation San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