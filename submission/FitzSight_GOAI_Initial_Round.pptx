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94360"/>
            <a:ext cx="411480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58D3FF"/>
                </a:solidFill>
                <a:latin typeface="Liberation Sans"/>
              </a:rPr>
              <a:t>FITZSIGHT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25296"/>
            <a:ext cx="7223760" cy="18745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F6F8FC"/>
                </a:solidFill>
                <a:latin typeface="Liberation Sans"/>
              </a:rPr>
              <a:t>Evidence-grounded
Financial Operations
Intelligence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37560"/>
            <a:ext cx="603504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AAB4C5"/>
                </a:solidFill>
                <a:latin typeface="Liberation Sans"/>
              </a:rPr>
              <a:t>GOAI 2026 · Boundless Agents · AI+金融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96512"/>
            <a:ext cx="6217920" cy="731520"/>
          </a:xfrm>
          <a:prstGeom prst="roundRect">
            <a:avLst/>
          </a:prstGeom>
          <a:solidFill>
            <a:srgbClr val="1B243A"/>
          </a:solidFill>
          <a:ln>
            <a:solidFill>
              <a:srgbClr val="58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4096512"/>
            <a:ext cx="54864" cy="731520"/>
          </a:xfrm>
          <a:prstGeom prst="rect">
            <a:avLst/>
          </a:prstGeom>
          <a:solidFill>
            <a:srgbClr val="58D3FF"/>
          </a:solidFill>
          <a:ln>
            <a:solidFill>
              <a:srgbClr val="58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24528"/>
            <a:ext cx="5897880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6F8FC"/>
                </a:solidFill>
                <a:latin typeface="Liberation Sans"/>
              </a:rPr>
              <a:t>Question → Data → Analysis → Evidence → Decision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051560"/>
            <a:ext cx="2468880" cy="749808"/>
          </a:xfrm>
          <a:prstGeom prst="roundRect">
            <a:avLst/>
          </a:prstGeom>
          <a:solidFill>
            <a:srgbClr val="141B2D"/>
          </a:solidFill>
          <a:ln>
            <a:solidFill>
              <a:srgbClr val="58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59" y="1271016"/>
            <a:ext cx="21031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58D3FF"/>
                </a:solidFill>
                <a:latin typeface="Liberation Sans"/>
              </a:rPr>
              <a:t>PLAN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646919" y="1801368"/>
            <a:ext cx="0" cy="256032"/>
          </a:xfrm>
          <a:prstGeom prst="line">
            <a:avLst/>
          </a:prstGeom>
          <a:ln w="16510">
            <a:solidFill>
              <a:srgbClr val="AAB4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412480" y="2103120"/>
            <a:ext cx="2468880" cy="749808"/>
          </a:xfrm>
          <a:prstGeom prst="roundRect">
            <a:avLst/>
          </a:prstGeom>
          <a:solidFill>
            <a:srgbClr val="141B2D"/>
          </a:solidFill>
          <a:ln>
            <a:solidFill>
              <a:srgbClr val="54D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59" y="2322576"/>
            <a:ext cx="21031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54D39B"/>
                </a:solidFill>
                <a:latin typeface="Liberation Sans"/>
              </a:rPr>
              <a:t>TOOLS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646919" y="2852928"/>
            <a:ext cx="0" cy="256032"/>
          </a:xfrm>
          <a:prstGeom prst="line">
            <a:avLst/>
          </a:prstGeom>
          <a:ln w="16510">
            <a:solidFill>
              <a:srgbClr val="AAB4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412480" y="3154679"/>
            <a:ext cx="2468880" cy="749808"/>
          </a:xfrm>
          <a:prstGeom prst="roundRect">
            <a:avLst/>
          </a:prstGeom>
          <a:solidFill>
            <a:srgbClr val="141B2D"/>
          </a:solidFill>
          <a:ln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59" y="3374135"/>
            <a:ext cx="21031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C857"/>
                </a:solidFill>
                <a:latin typeface="Liberation Sans"/>
              </a:rPr>
              <a:t>EVIDENCE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646919" y="3904487"/>
            <a:ext cx="0" cy="256033"/>
          </a:xfrm>
          <a:prstGeom prst="line">
            <a:avLst/>
          </a:prstGeom>
          <a:ln w="16510">
            <a:solidFill>
              <a:srgbClr val="AAB4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412480" y="4206240"/>
            <a:ext cx="2468880" cy="749808"/>
          </a:xfrm>
          <a:prstGeom prst="roundRect">
            <a:avLst/>
          </a:prstGeom>
          <a:solidFill>
            <a:srgbClr val="141B2D"/>
          </a:solidFill>
          <a:ln>
            <a:solidFill>
              <a:srgbClr val="58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59" y="4425696"/>
            <a:ext cx="21031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58D3FF"/>
                </a:solidFill>
                <a:latin typeface="Liberation Sans"/>
              </a:rPr>
              <a:t>VERIFY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5532120"/>
            <a:ext cx="256032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AAB4C5"/>
                </a:solidFill>
                <a:latin typeface="Liberation Sans"/>
              </a:rPr>
              <a:t>Not chat with a CSV.
An auditable investigation.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519672"/>
            <a:ext cx="86868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AB4C5"/>
                </a:solidFill>
                <a:latin typeface="Liberation Sans"/>
              </a:rPr>
              <a:t>FitzSight · GOAI 2026 · Boundless Agents · AI+金融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73952"/>
            <a:ext cx="4572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AB4C5"/>
                </a:solidFill>
                <a:latin typeface="Liberation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8521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8D3FF"/>
                </a:solidFill>
                <a:latin typeface="Liberation Sans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6F8FC"/>
                </a:solidFill>
                <a:latin typeface="Liberation Sans"/>
              </a:rPr>
              <a:t>The gap: dashboards show what, analysts still investigate why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2331720" cy="694944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2104" y="2029967"/>
            <a:ext cx="32004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8D3FF"/>
                </a:solidFill>
                <a:latin typeface="Liberation San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2011679"/>
            <a:ext cx="166420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6F8FC"/>
                </a:solidFill>
                <a:latin typeface="Liberation Sans"/>
              </a:rPr>
              <a:t>Find tables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874519"/>
            <a:ext cx="2331720" cy="694944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21024" y="2029967"/>
            <a:ext cx="32004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8D3FF"/>
                </a:solidFill>
                <a:latin typeface="Liberation San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0208" y="2011679"/>
            <a:ext cx="166420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6F8FC"/>
                </a:solidFill>
                <a:latin typeface="Liberation Sans"/>
              </a:rPr>
              <a:t>Define KPI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74519"/>
            <a:ext cx="2331720" cy="694944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2029967"/>
            <a:ext cx="32004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8D3FF"/>
                </a:solidFill>
                <a:latin typeface="Liberation San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9127" y="2011679"/>
            <a:ext cx="166420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6F8FC"/>
                </a:solidFill>
                <a:latin typeface="Liberation Sans"/>
              </a:rPr>
              <a:t>Compare periods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59" y="1874519"/>
            <a:ext cx="2331720" cy="694944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98863" y="2029967"/>
            <a:ext cx="32004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8D3FF"/>
                </a:solidFill>
                <a:latin typeface="Liberation San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8047" y="2011679"/>
            <a:ext cx="166420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6F8FC"/>
                </a:solidFill>
                <a:latin typeface="Liberation Sans"/>
              </a:rPr>
              <a:t>Drill dimensions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017520"/>
            <a:ext cx="2331720" cy="694944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" y="3172968"/>
            <a:ext cx="32004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8D3FF"/>
                </a:solidFill>
                <a:latin typeface="Liberation San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1288" y="3154679"/>
            <a:ext cx="166420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6F8FC"/>
                </a:solidFill>
                <a:latin typeface="Liberation Sans"/>
              </a:rPr>
              <a:t>Test significance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3017520"/>
            <a:ext cx="2331720" cy="694944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3172968"/>
            <a:ext cx="32004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8D3FF"/>
                </a:solidFill>
                <a:latin typeface="Liberation Sans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0208" y="3154679"/>
            <a:ext cx="166420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6F8FC"/>
                </a:solidFill>
                <a:latin typeface="Liberation Sans"/>
              </a:rPr>
              <a:t>Inspect events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017520"/>
            <a:ext cx="2331720" cy="694944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9944" y="3172968"/>
            <a:ext cx="32004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8D3FF"/>
                </a:solidFill>
                <a:latin typeface="Liberation Sans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39127" y="3154679"/>
            <a:ext cx="166420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6F8FC"/>
                </a:solidFill>
                <a:latin typeface="Liberation Sans"/>
              </a:rPr>
              <a:t>Reconcile numbers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59" y="3017520"/>
            <a:ext cx="2331720" cy="694944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98863" y="3172968"/>
            <a:ext cx="32004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8D3FF"/>
                </a:solidFill>
                <a:latin typeface="Liberation Sans"/>
              </a:rP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8047" y="3154679"/>
            <a:ext cx="166420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6F8FC"/>
                </a:solidFill>
                <a:latin typeface="Liberation Sans"/>
              </a:rPr>
              <a:t>Write report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434840"/>
            <a:ext cx="10744200" cy="786384"/>
          </a:xfrm>
          <a:prstGeom prst="roundRect">
            <a:avLst/>
          </a:prstGeom>
          <a:solidFill>
            <a:srgbClr val="1B243A"/>
          </a:solidFill>
          <a:ln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" y="4434840"/>
            <a:ext cx="54864" cy="786384"/>
          </a:xfrm>
          <a:prstGeom prst="rect">
            <a:avLst/>
          </a:prstGeom>
          <a:solidFill>
            <a:srgbClr val="FFC857"/>
          </a:solidFill>
          <a:ln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4562855"/>
            <a:ext cx="1042416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6F8FC"/>
                </a:solidFill>
                <a:latin typeface="Liberation Sans"/>
              </a:rPr>
              <a:t>A generic LLM can generate an explanation faster — but plausibility is not auditability.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440680"/>
            <a:ext cx="3246120" cy="82296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586984"/>
            <a:ext cx="2916936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AB4C5"/>
                </a:solidFill>
                <a:latin typeface="Liberation Sans"/>
              </a:rPr>
              <a:t>Existing stack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" y="5934456"/>
            <a:ext cx="2916936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AAB4C5"/>
                </a:solidFill>
                <a:latin typeface="Liberation Sans"/>
              </a:rPr>
              <a:t>Dashboard + SQL + BI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60520" y="5440680"/>
            <a:ext cx="3246120" cy="82296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25112" y="5586984"/>
            <a:ext cx="2916936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AB4C5"/>
                </a:solidFill>
                <a:latin typeface="Liberation Sans"/>
              </a:rPr>
              <a:t>Missing layer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25112" y="5934456"/>
            <a:ext cx="2916936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58D3FF"/>
                </a:solidFill>
                <a:latin typeface="Liberation Sans"/>
              </a:rPr>
              <a:t>Reproducible investigation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35240" y="5440680"/>
            <a:ext cx="3794760" cy="82296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99831" y="5586984"/>
            <a:ext cx="3465576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AB4C5"/>
                </a:solidFill>
                <a:latin typeface="Liberation Sans"/>
              </a:rPr>
              <a:t>Design target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99831" y="5934456"/>
            <a:ext cx="3465576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54D39B"/>
                </a:solidFill>
                <a:latin typeface="Liberation Sans"/>
              </a:rPr>
              <a:t>Evidence before narrative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519672"/>
            <a:ext cx="86868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AB4C5"/>
                </a:solidFill>
                <a:latin typeface="Liberation Sans"/>
              </a:rPr>
              <a:t>FitzSight · GOAI 2026 · Boundless Agents · AI+金融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64240" y="6473952"/>
            <a:ext cx="4572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AB4C5"/>
                </a:solidFill>
                <a:latin typeface="Liberation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8521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8D3FF"/>
                </a:solidFill>
                <a:latin typeface="Liberation Sans"/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6F8FC"/>
                </a:solidFill>
                <a:latin typeface="Liberation Sans"/>
              </a:rPr>
              <a:t>FitzSight turns a business question into a verified investigation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240280"/>
            <a:ext cx="1417320" cy="658368"/>
          </a:xfrm>
          <a:prstGeom prst="roundRect">
            <a:avLst/>
          </a:prstGeom>
          <a:solidFill>
            <a:srgbClr val="141B2D"/>
          </a:solidFill>
          <a:ln>
            <a:solidFill>
              <a:srgbClr val="58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2395728"/>
            <a:ext cx="127101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6F8FC"/>
                </a:solidFill>
                <a:latin typeface="Liberation Sans"/>
              </a:rPr>
              <a:t>Question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2240280"/>
            <a:ext cx="1417320" cy="658368"/>
          </a:xfrm>
          <a:prstGeom prst="roundRect">
            <a:avLst/>
          </a:prstGeom>
          <a:solidFill>
            <a:srgbClr val="141B2D"/>
          </a:solidFill>
          <a:ln>
            <a:solidFill>
              <a:srgbClr val="58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87752" y="2395728"/>
            <a:ext cx="127101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6F8FC"/>
                </a:solidFill>
                <a:latin typeface="Liberation Sans"/>
              </a:rPr>
              <a:t>Constrained
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240280"/>
            <a:ext cx="1508760" cy="658368"/>
          </a:xfrm>
          <a:prstGeom prst="roundRect">
            <a:avLst/>
          </a:prstGeom>
          <a:solidFill>
            <a:srgbClr val="141B2D"/>
          </a:solidFill>
          <a:ln>
            <a:solidFill>
              <a:srgbClr val="54D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2395728"/>
            <a:ext cx="136245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6F8FC"/>
                </a:solidFill>
                <a:latin typeface="Liberation Sans"/>
              </a:rPr>
              <a:t>SQL / Python
Tools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240280"/>
            <a:ext cx="1417320" cy="658368"/>
          </a:xfrm>
          <a:prstGeom prst="roundRect">
            <a:avLst/>
          </a:prstGeom>
          <a:solidFill>
            <a:srgbClr val="141B2D"/>
          </a:solidFill>
          <a:ln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2395728"/>
            <a:ext cx="127101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6F8FC"/>
                </a:solidFill>
                <a:latin typeface="Liberation Sans"/>
              </a:rPr>
              <a:t>Evidence
Graph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2240280"/>
            <a:ext cx="1234440" cy="658368"/>
          </a:xfrm>
          <a:prstGeom prst="roundRect">
            <a:avLst/>
          </a:prstGeom>
          <a:solidFill>
            <a:srgbClr val="141B2D"/>
          </a:solidFill>
          <a:ln>
            <a:solidFill>
              <a:srgbClr val="58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2" y="2395728"/>
            <a:ext cx="108813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6F8FC"/>
                </a:solidFill>
                <a:latin typeface="Liberation Sans"/>
              </a:rPr>
              <a:t>Verifier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0" y="2240280"/>
            <a:ext cx="1554480" cy="658368"/>
          </a:xfrm>
          <a:prstGeom prst="roundRect">
            <a:avLst/>
          </a:prstGeom>
          <a:solidFill>
            <a:srgbClr val="141B2D"/>
          </a:solidFill>
          <a:ln>
            <a:solidFill>
              <a:srgbClr val="54D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31552" y="2395728"/>
            <a:ext cx="140817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6F8FC"/>
                </a:solidFill>
                <a:latin typeface="Liberation Sans"/>
              </a:rPr>
              <a:t>Verified
Answer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011680" y="2569464"/>
            <a:ext cx="429768" cy="0"/>
          </a:xfrm>
          <a:prstGeom prst="line">
            <a:avLst/>
          </a:prstGeom>
          <a:ln w="17780">
            <a:solidFill>
              <a:srgbClr val="AAB4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931920" y="2569464"/>
            <a:ext cx="429768" cy="0"/>
          </a:xfrm>
          <a:prstGeom prst="line">
            <a:avLst/>
          </a:prstGeom>
          <a:ln w="17780">
            <a:solidFill>
              <a:srgbClr val="AAB4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943600" y="2569464"/>
            <a:ext cx="384048" cy="0"/>
          </a:xfrm>
          <a:prstGeom prst="line">
            <a:avLst/>
          </a:prstGeom>
          <a:ln w="17780">
            <a:solidFill>
              <a:srgbClr val="AAB4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818120" y="2569464"/>
            <a:ext cx="429768" cy="0"/>
          </a:xfrm>
          <a:prstGeom prst="line">
            <a:avLst/>
          </a:prstGeom>
          <a:ln w="17780">
            <a:solidFill>
              <a:srgbClr val="AAB4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555480" y="2569464"/>
            <a:ext cx="429768" cy="0"/>
          </a:xfrm>
          <a:prstGeom prst="line">
            <a:avLst/>
          </a:prstGeom>
          <a:ln w="17780">
            <a:solidFill>
              <a:srgbClr val="AAB4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31520" y="3657600"/>
            <a:ext cx="10698480" cy="868680"/>
          </a:xfrm>
          <a:prstGeom prst="roundRect">
            <a:avLst/>
          </a:prstGeom>
          <a:solidFill>
            <a:srgbClr val="1B243A"/>
          </a:solidFill>
          <a:ln>
            <a:solidFill>
              <a:srgbClr val="58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657600"/>
            <a:ext cx="54864" cy="868680"/>
          </a:xfrm>
          <a:prstGeom prst="rect">
            <a:avLst/>
          </a:prstGeom>
          <a:solidFill>
            <a:srgbClr val="58D3FF"/>
          </a:solidFill>
          <a:ln>
            <a:solidFill>
              <a:srgbClr val="58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785615"/>
            <a:ext cx="10378440" cy="6492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6F8FC"/>
                </a:solidFill>
                <a:latin typeface="Liberation Sans"/>
              </a:rPr>
              <a:t>Planner decides what to investigate. Deterministic tools own every number. Verifier decides what may be shown.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846320"/>
            <a:ext cx="3200400" cy="105156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4992624"/>
            <a:ext cx="2871216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AB4C5"/>
                </a:solidFill>
                <a:latin typeface="Liberation Sans"/>
              </a:rPr>
              <a:t>Planner authority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5340096"/>
            <a:ext cx="2871216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58D3FF"/>
                </a:solidFill>
                <a:latin typeface="Liberation Sans"/>
              </a:rPr>
              <a:t>Approved actions only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5550407"/>
            <a:ext cx="2871216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AB4C5"/>
                </a:solidFill>
                <a:latin typeface="Liberation Sans"/>
              </a:rPr>
              <a:t>No free-form SQL or high-impact actions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60520" y="4846320"/>
            <a:ext cx="3200400" cy="105156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25112" y="4992624"/>
            <a:ext cx="2871216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AB4C5"/>
                </a:solidFill>
                <a:latin typeface="Liberation Sans"/>
              </a:rPr>
              <a:t>Calculation authority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25112" y="5340096"/>
            <a:ext cx="2871216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54D39B"/>
                </a:solidFill>
                <a:latin typeface="Liberation Sans"/>
              </a:rPr>
              <a:t>Read-only SQL / Python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25112" y="5550407"/>
            <a:ext cx="2871216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AB4C5"/>
                </a:solidFill>
                <a:latin typeface="Liberation Sans"/>
              </a:rPr>
              <a:t>Statistics and decompositions are executable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9520" y="4846320"/>
            <a:ext cx="3840480" cy="105156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54112" y="4992624"/>
            <a:ext cx="3511296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AB4C5"/>
                </a:solidFill>
                <a:latin typeface="Liberation Sans"/>
              </a:rPr>
              <a:t>Answer authority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54112" y="5340096"/>
            <a:ext cx="3511296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C857"/>
                </a:solidFill>
                <a:latin typeface="Liberation Sans"/>
              </a:rPr>
              <a:t>EvidenceClaimVerifier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54112" y="5550407"/>
            <a:ext cx="3511296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AB4C5"/>
                </a:solidFill>
                <a:latin typeface="Liberation Sans"/>
              </a:rPr>
              <a:t>Verification failure → answer withheld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519672"/>
            <a:ext cx="86868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AB4C5"/>
                </a:solidFill>
                <a:latin typeface="Liberation Sans"/>
              </a:rPr>
              <a:t>FitzSight · GOAI 2026 · Boundless Agents · AI+金融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6473952"/>
            <a:ext cx="4572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AB4C5"/>
                </a:solidFill>
                <a:latin typeface="Liberation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8521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8D3FF"/>
                </a:solidFill>
                <a:latin typeface="Liberation Sans"/>
              </a:rPr>
              <a:t>CRM / SALES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6F8FC"/>
                </a:solidFill>
                <a:latin typeface="Liberation Sans"/>
              </a:rPr>
              <a:t>Demo 1 — Why did European FTD conversion deteriorate after July 15?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37360"/>
            <a:ext cx="2148840" cy="105156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883664"/>
            <a:ext cx="1819656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AB4C5"/>
                </a:solidFill>
                <a:latin typeface="Liberation Sans"/>
              </a:rPr>
              <a:t>Affected FTD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231136"/>
            <a:ext cx="1819656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6B6B"/>
                </a:solidFill>
                <a:latin typeface="Liberation Sans"/>
              </a:rPr>
              <a:t>-7.53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441448"/>
            <a:ext cx="1819656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AB4C5"/>
                </a:solidFill>
                <a:latin typeface="Liberation Sans"/>
              </a:rPr>
              <a:t>Europe Team A+B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1737360"/>
            <a:ext cx="2148840" cy="105156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36392" y="1883664"/>
            <a:ext cx="1819656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AB4C5"/>
                </a:solidFill>
                <a:latin typeface="Liberation Sans"/>
              </a:rPr>
              <a:t>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6392" y="2231136"/>
            <a:ext cx="1819656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C857"/>
                </a:solidFill>
                <a:latin typeface="Liberation Sans"/>
              </a:rPr>
              <a:t>-1.21 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2441448"/>
            <a:ext cx="1819656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AB4C5"/>
                </a:solidFill>
                <a:latin typeface="Liberation Sans"/>
              </a:rPr>
              <a:t>Other Europe teams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57800" y="1737360"/>
            <a:ext cx="2148840" cy="105156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22392" y="1883664"/>
            <a:ext cx="1819656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AB4C5"/>
                </a:solidFill>
                <a:latin typeface="Liberation Sans"/>
              </a:rPr>
              <a:t>Response median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22392" y="2231136"/>
            <a:ext cx="1819656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6B6B"/>
                </a:solidFill>
                <a:latin typeface="Liberation Sans"/>
              </a:rPr>
              <a:t>+29.15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2392" y="2441448"/>
            <a:ext cx="1819656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AB4C5"/>
                </a:solidFill>
                <a:latin typeface="Liberation Sans"/>
              </a:rPr>
              <a:t>Affected cohort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1737360"/>
            <a:ext cx="1828800" cy="105156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08392" y="1883664"/>
            <a:ext cx="1499616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AB4C5"/>
                </a:solidFill>
                <a:latin typeface="Liberation Sans"/>
              </a:rPr>
              <a:t>Conversion 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08392" y="2231136"/>
            <a:ext cx="1499616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54D39B"/>
                </a:solidFill>
                <a:latin typeface="Liberation Sans"/>
              </a:rPr>
              <a:t>0.00235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9760" y="1737360"/>
            <a:ext cx="1920240" cy="105156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74352" y="1883664"/>
            <a:ext cx="1591056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AB4C5"/>
                </a:solidFill>
                <a:latin typeface="Liberation Sans"/>
              </a:rPr>
              <a:t>Root cause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74352" y="2231136"/>
            <a:ext cx="1591056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58D3FF"/>
                </a:solidFill>
                <a:latin typeface="Liberation Sans"/>
              </a:rPr>
              <a:t>Candidate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74352" y="2441448"/>
            <a:ext cx="1591056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AB4C5"/>
                </a:solidFill>
                <a:latin typeface="Liberation Sans"/>
              </a:rPr>
              <a:t>Not causal proof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246120"/>
            <a:ext cx="192024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6F8FC"/>
                </a:solidFill>
                <a:latin typeface="Liberation Sans"/>
              </a:rPr>
              <a:t>Affected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3291839"/>
            <a:ext cx="3108960" cy="146304"/>
          </a:xfrm>
          <a:prstGeom prst="rect">
            <a:avLst/>
          </a:prstGeom>
          <a:solidFill>
            <a:srgbClr val="1B243A"/>
          </a:solidFill>
          <a:ln>
            <a:solidFill>
              <a:srgbClr val="1B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34640" y="3291839"/>
            <a:ext cx="3108960" cy="146304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80" y="3236976"/>
            <a:ext cx="6858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50" b="1">
                <a:solidFill>
                  <a:srgbClr val="F6F8FC"/>
                </a:solidFill>
                <a:latin typeface="Liberation Sans"/>
              </a:rPr>
              <a:t>-7.53 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794760"/>
            <a:ext cx="192024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6F8FC"/>
                </a:solidFill>
                <a:latin typeface="Liberation Sans"/>
              </a:rPr>
              <a:t>Control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34640" y="3840480"/>
            <a:ext cx="3108960" cy="146304"/>
          </a:xfrm>
          <a:prstGeom prst="rect">
            <a:avLst/>
          </a:prstGeom>
          <a:solidFill>
            <a:srgbClr val="1B243A"/>
          </a:solidFill>
          <a:ln>
            <a:solidFill>
              <a:srgbClr val="1B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834640" y="3840480"/>
            <a:ext cx="501602" cy="146304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0" y="3785616"/>
            <a:ext cx="6858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50" b="1">
                <a:solidFill>
                  <a:srgbClr val="F6F8FC"/>
                </a:solidFill>
                <a:latin typeface="Liberation Sans"/>
              </a:rPr>
              <a:t>-1.21 pp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46520" y="3108960"/>
            <a:ext cx="4983480" cy="205740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56832" y="3310128"/>
            <a:ext cx="2560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58D3FF"/>
                </a:solidFill>
                <a:latin typeface="Liberation Sans"/>
              </a:rPr>
              <a:t>Investigation 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3703320"/>
            <a:ext cx="43891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6F8FC"/>
                </a:solidFill>
                <a:latin typeface="Liberation Sans"/>
              </a:rPr>
              <a:t>• Response latency shifted by +29.15 minutes after the routing change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041648"/>
            <a:ext cx="43891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6F8FC"/>
                </a:solidFill>
                <a:latin typeface="Liberation Sans"/>
              </a:rPr>
              <a:t>• Team A is the largest negative team-level contributor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4379976"/>
            <a:ext cx="43891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6F8FC"/>
                </a:solidFill>
                <a:latin typeface="Liberation Sans"/>
              </a:rPr>
              <a:t>• Nearby CRM routing event exists in the business-event log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4718304"/>
            <a:ext cx="43891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6F8FC"/>
                </a:solidFill>
                <a:latin typeface="Liberation Sans"/>
              </a:rPr>
              <a:t>• 8 post-change response-time days exceed the robust threshold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559552"/>
            <a:ext cx="10652760" cy="594360"/>
          </a:xfrm>
          <a:prstGeom prst="roundRect">
            <a:avLst/>
          </a:prstGeom>
          <a:solidFill>
            <a:srgbClr val="1B243A"/>
          </a:solidFill>
          <a:ln>
            <a:solidFill>
              <a:srgbClr val="54D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559552"/>
            <a:ext cx="54864" cy="594360"/>
          </a:xfrm>
          <a:prstGeom prst="rect">
            <a:avLst/>
          </a:prstGeom>
          <a:solidFill>
            <a:srgbClr val="54D39B"/>
          </a:solidFill>
          <a:ln>
            <a:solidFill>
              <a:srgbClr val="54D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5687568"/>
            <a:ext cx="10332720" cy="3749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6F8FC"/>
                </a:solidFill>
                <a:latin typeface="Liberation Sans"/>
              </a:rPr>
              <a:t>Result: supported root-cause candidate, with evidence and a causal boundary.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519672"/>
            <a:ext cx="86868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AB4C5"/>
                </a:solidFill>
                <a:latin typeface="Liberation Sans"/>
              </a:rPr>
              <a:t>FitzSight · GOAI 2026 · Boundless Agents · AI+金融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64240" y="6473952"/>
            <a:ext cx="4572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AB4C5"/>
                </a:solidFill>
                <a:latin typeface="Liberation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8521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8D3FF"/>
                </a:solidFill>
                <a:latin typeface="Liberation Sans"/>
              </a:rPr>
              <a:t>FINANCIAL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6F8FC"/>
                </a:solidFill>
                <a:latin typeface="Liberation Sans"/>
              </a:rPr>
              <a:t>Demo 2 — Why did European net deposits fall in the week starting August 3?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37360"/>
            <a:ext cx="2286000" cy="105156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883664"/>
            <a:ext cx="1956816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AB4C5"/>
                </a:solidFill>
                <a:latin typeface="Liberation Sans"/>
              </a:rPr>
              <a:t>Net-deposit 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231136"/>
            <a:ext cx="1956816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6B6B"/>
                </a:solidFill>
                <a:latin typeface="Liberation Sans"/>
              </a:rPr>
              <a:t>-$187.8k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1737360"/>
            <a:ext cx="2286000" cy="105156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19272" y="1883664"/>
            <a:ext cx="1956816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AB4C5"/>
                </a:solidFill>
                <a:latin typeface="Liberation Sans"/>
              </a:rPr>
              <a:t>Deposits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9272" y="2231136"/>
            <a:ext cx="1956816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54D39B"/>
                </a:solidFill>
                <a:latin typeface="Liberation Sans"/>
              </a:rPr>
              <a:t>+$59.2k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1737360"/>
            <a:ext cx="2286000" cy="105156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88152" y="1883664"/>
            <a:ext cx="1956816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AB4C5"/>
                </a:solidFill>
                <a:latin typeface="Liberation Sans"/>
              </a:rPr>
              <a:t>Withdrawals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88152" y="2231136"/>
            <a:ext cx="1956816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6B6B"/>
                </a:solidFill>
                <a:latin typeface="Liberation Sans"/>
              </a:rPr>
              <a:t>+$246.9k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737360"/>
            <a:ext cx="3337560" cy="105156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1" y="1883664"/>
            <a:ext cx="3008376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AB4C5"/>
                </a:solidFill>
                <a:latin typeface="Liberation Sans"/>
              </a:rPr>
              <a:t>Top 11 withdrawal share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2231136"/>
            <a:ext cx="3008376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C857"/>
                </a:solidFill>
                <a:latin typeface="Liberation Sans"/>
              </a:rPr>
              <a:t>91.6%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2441448"/>
            <a:ext cx="3008376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AB4C5"/>
                </a:solidFill>
                <a:latin typeface="Liberation Sans"/>
              </a:rPr>
              <a:t>Concentration, not motive inference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154680"/>
            <a:ext cx="6583680" cy="205740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364992"/>
            <a:ext cx="23774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58D3FF"/>
                </a:solidFill>
                <a:latin typeface="Liberation Sans"/>
              </a:rPr>
              <a:t>Driver decomposition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840480"/>
            <a:ext cx="192024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6F8FC"/>
                </a:solidFill>
                <a:latin typeface="Liberation Sans"/>
              </a:rPr>
              <a:t>Deposit change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63240" y="3886200"/>
            <a:ext cx="3886200" cy="146304"/>
          </a:xfrm>
          <a:prstGeom prst="rect">
            <a:avLst/>
          </a:prstGeom>
          <a:solidFill>
            <a:srgbClr val="1B243A"/>
          </a:solidFill>
          <a:ln>
            <a:solidFill>
              <a:srgbClr val="1B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063240" y="3886200"/>
            <a:ext cx="930963" cy="146304"/>
          </a:xfrm>
          <a:prstGeom prst="rect">
            <a:avLst/>
          </a:prstGeom>
          <a:solidFill>
            <a:srgbClr val="54D39B"/>
          </a:solidFill>
          <a:ln>
            <a:solidFill>
              <a:srgbClr val="54D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3831336"/>
            <a:ext cx="6858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50" b="1">
                <a:solidFill>
                  <a:srgbClr val="F6F8FC"/>
                </a:solidFill>
                <a:latin typeface="Liberation Sans"/>
              </a:rPr>
              <a:t>+59.2k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251960"/>
            <a:ext cx="192024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6F8FC"/>
                </a:solidFill>
                <a:latin typeface="Liberation Sans"/>
              </a:rPr>
              <a:t>Withdrawal pressure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63240" y="4297680"/>
            <a:ext cx="3886200" cy="146304"/>
          </a:xfrm>
          <a:prstGeom prst="rect">
            <a:avLst/>
          </a:prstGeom>
          <a:solidFill>
            <a:srgbClr val="1B243A"/>
          </a:solidFill>
          <a:ln>
            <a:solidFill>
              <a:srgbClr val="1B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63240" y="4297680"/>
            <a:ext cx="3886200" cy="146304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4242816"/>
            <a:ext cx="6858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50" b="1">
                <a:solidFill>
                  <a:srgbClr val="F6F8FC"/>
                </a:solidFill>
                <a:latin typeface="Liberation Sans"/>
              </a:rPr>
              <a:t>-246.9k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663440"/>
            <a:ext cx="192024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6F8FC"/>
                </a:solidFill>
                <a:latin typeface="Liberation Sans"/>
              </a:rPr>
              <a:t>Net change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63240" y="4709160"/>
            <a:ext cx="3886200" cy="146304"/>
          </a:xfrm>
          <a:prstGeom prst="rect">
            <a:avLst/>
          </a:prstGeom>
          <a:solidFill>
            <a:srgbClr val="1B243A"/>
          </a:solidFill>
          <a:ln>
            <a:solidFill>
              <a:srgbClr val="1B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063240" y="4709160"/>
            <a:ext cx="2955236" cy="146304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4654296"/>
            <a:ext cx="6858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50" b="1">
                <a:solidFill>
                  <a:srgbClr val="F6F8FC"/>
                </a:solidFill>
                <a:latin typeface="Liberation Sans"/>
              </a:rPr>
              <a:t>-187.8k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35240" y="3154680"/>
            <a:ext cx="3794760" cy="205740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0" y="3401568"/>
            <a:ext cx="32461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C857"/>
                </a:solidFill>
                <a:latin typeface="Liberation Sans"/>
              </a:rPr>
              <a:t>What FitzSight refuses to infer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79" y="3840480"/>
            <a:ext cx="3154680" cy="329184"/>
          </a:xfrm>
          <a:prstGeom prst="roundRect">
            <a:avLst/>
          </a:prstGeom>
          <a:solidFill>
            <a:srgbClr val="1B243A"/>
          </a:solidFill>
          <a:ln>
            <a:solidFill>
              <a:srgbClr val="1B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65007" y="3913632"/>
            <a:ext cx="29352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AAB4C5"/>
                </a:solidFill>
                <a:latin typeface="Liberation Sans"/>
              </a:rPr>
              <a:t>Customer motive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55279" y="4169664"/>
            <a:ext cx="3154680" cy="329184"/>
          </a:xfrm>
          <a:prstGeom prst="roundRect">
            <a:avLst/>
          </a:prstGeom>
          <a:solidFill>
            <a:srgbClr val="1B243A"/>
          </a:solidFill>
          <a:ln>
            <a:solidFill>
              <a:srgbClr val="1B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65007" y="4242816"/>
            <a:ext cx="29352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AAB4C5"/>
                </a:solidFill>
                <a:latin typeface="Liberation Sans"/>
              </a:rPr>
              <a:t>AML suspicion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55279" y="4498848"/>
            <a:ext cx="3154680" cy="329184"/>
          </a:xfrm>
          <a:prstGeom prst="roundRect">
            <a:avLst/>
          </a:prstGeom>
          <a:solidFill>
            <a:srgbClr val="1B243A"/>
          </a:solidFill>
          <a:ln>
            <a:solidFill>
              <a:srgbClr val="1B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65007" y="4572000"/>
            <a:ext cx="29352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AAB4C5"/>
                </a:solidFill>
                <a:latin typeface="Liberation Sans"/>
              </a:rPr>
              <a:t>Investment intent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55279" y="4828032"/>
            <a:ext cx="3154680" cy="329184"/>
          </a:xfrm>
          <a:prstGeom prst="roundRect">
            <a:avLst/>
          </a:prstGeom>
          <a:solidFill>
            <a:srgbClr val="1B243A"/>
          </a:solidFill>
          <a:ln>
            <a:solidFill>
              <a:srgbClr val="1B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65007" y="4901184"/>
            <a:ext cx="29352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AAB4C5"/>
                </a:solidFill>
                <a:latin typeface="Liberation Sans"/>
              </a:rPr>
              <a:t>Automated account action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7240" y="5559552"/>
            <a:ext cx="10652760" cy="594360"/>
          </a:xfrm>
          <a:prstGeom prst="roundRect">
            <a:avLst/>
          </a:prstGeom>
          <a:solidFill>
            <a:srgbClr val="1B243A"/>
          </a:solidFill>
          <a:ln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5559552"/>
            <a:ext cx="54864" cy="594360"/>
          </a:xfrm>
          <a:prstGeom prst="rect">
            <a:avLst/>
          </a:prstGeom>
          <a:solidFill>
            <a:srgbClr val="FFC857"/>
          </a:solidFill>
          <a:ln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5687568"/>
            <a:ext cx="10332720" cy="3749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6F8FC"/>
                </a:solidFill>
                <a:latin typeface="Liberation Sans"/>
              </a:rPr>
              <a:t>Observed driver: concentrated withdrawal pressure. Unsupported story: why customers withdrew.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519672"/>
            <a:ext cx="86868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AB4C5"/>
                </a:solidFill>
                <a:latin typeface="Liberation Sans"/>
              </a:rPr>
              <a:t>FitzSight · GOAI 2026 · Boundless Agents · AI+金融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64240" y="6473952"/>
            <a:ext cx="4572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AB4C5"/>
                </a:solidFill>
                <a:latin typeface="Liberation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8521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8D3FF"/>
                </a:solidFill>
                <a:latin typeface="Liberation Sans"/>
              </a:rPr>
              <a:t>CUSTOMER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6F8FC"/>
                </a:solidFill>
                <a:latin typeface="Liberation Sans"/>
              </a:rPr>
              <a:t>Demo 3 — Customer Intelligence without hidden labels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37360"/>
            <a:ext cx="2240280" cy="105156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883664"/>
            <a:ext cx="1911096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AB4C5"/>
                </a:solidFill>
                <a:latin typeface="Liberation Sans"/>
              </a:rPr>
              <a:t>Europe customers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231136"/>
            <a:ext cx="1911096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58D3FF"/>
                </a:solidFill>
                <a:latin typeface="Liberation Sans"/>
              </a:rPr>
              <a:t>6,770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1737360"/>
            <a:ext cx="2240280" cy="105156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73552" y="1883664"/>
            <a:ext cx="1911096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AB4C5"/>
                </a:solidFill>
                <a:latin typeface="Liberation Sans"/>
              </a:rPr>
              <a:t>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73552" y="2231136"/>
            <a:ext cx="1911096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54D39B"/>
                </a:solidFill>
                <a:latin typeface="Liberation Sans"/>
              </a:rPr>
              <a:t>100%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32120" y="1737360"/>
            <a:ext cx="2240280" cy="105156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96712" y="1883664"/>
            <a:ext cx="1911096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AB4C5"/>
                </a:solidFill>
                <a:latin typeface="Liberation Sans"/>
              </a:rPr>
              <a:t>High Value 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96712" y="2231136"/>
            <a:ext cx="1911096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C857"/>
                </a:solidFill>
                <a:latin typeface="Liberation Sans"/>
              </a:rPr>
              <a:t>3.7%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737360"/>
            <a:ext cx="3474720" cy="105156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19871" y="1883664"/>
            <a:ext cx="3145536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AB4C5"/>
                </a:solidFill>
                <a:latin typeface="Liberation Sans"/>
              </a:rPr>
              <a:t>High Value deposit share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9871" y="2231136"/>
            <a:ext cx="3145536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54D39B"/>
                </a:solidFill>
                <a:latin typeface="Liberation Sans"/>
              </a:rPr>
              <a:t>53.7%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154680"/>
            <a:ext cx="6629400" cy="192024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3383280"/>
            <a:ext cx="33832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58D3FF"/>
                </a:solidFill>
                <a:latin typeface="Liberation Sans"/>
              </a:rPr>
              <a:t>Transparent behavioral value policy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3840480"/>
            <a:ext cx="1691640" cy="329184"/>
          </a:xfrm>
          <a:prstGeom prst="roundRect">
            <a:avLst/>
          </a:prstGeom>
          <a:solidFill>
            <a:srgbClr val="1B243A"/>
          </a:solidFill>
          <a:ln>
            <a:solidFill>
              <a:srgbClr val="1B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" y="3913632"/>
            <a:ext cx="147218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6F8FC"/>
                </a:solidFill>
                <a:latin typeface="Liberation Sans"/>
              </a:rPr>
              <a:t>Deposit value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26080" y="3840480"/>
            <a:ext cx="1691640" cy="329184"/>
          </a:xfrm>
          <a:prstGeom prst="roundRect">
            <a:avLst/>
          </a:prstGeom>
          <a:solidFill>
            <a:srgbClr val="1B243A"/>
          </a:solidFill>
          <a:ln>
            <a:solidFill>
              <a:srgbClr val="1B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35808" y="3913632"/>
            <a:ext cx="147218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6F8FC"/>
                </a:solidFill>
                <a:latin typeface="Liberation Sans"/>
              </a:rPr>
              <a:t>Deposit frequency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3840480"/>
            <a:ext cx="1691640" cy="329184"/>
          </a:xfrm>
          <a:prstGeom prst="roundRect">
            <a:avLst/>
          </a:prstGeom>
          <a:solidFill>
            <a:srgbClr val="1B243A"/>
          </a:solidFill>
          <a:ln>
            <a:solidFill>
              <a:srgbClr val="1B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1768" y="3913632"/>
            <a:ext cx="147218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6F8FC"/>
                </a:solidFill>
                <a:latin typeface="Liberation Sans"/>
              </a:rPr>
              <a:t>Trade volume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" y="4343400"/>
            <a:ext cx="1691640" cy="329184"/>
          </a:xfrm>
          <a:prstGeom prst="roundRect">
            <a:avLst/>
          </a:prstGeom>
          <a:solidFill>
            <a:srgbClr val="1B243A"/>
          </a:solidFill>
          <a:ln>
            <a:solidFill>
              <a:srgbClr val="1B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9848" y="4416552"/>
            <a:ext cx="147218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6F8FC"/>
                </a:solidFill>
                <a:latin typeface="Liberation Sans"/>
              </a:rPr>
              <a:t>Trade frequency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26080" y="4343400"/>
            <a:ext cx="1691640" cy="329184"/>
          </a:xfrm>
          <a:prstGeom prst="roundRect">
            <a:avLst/>
          </a:prstGeom>
          <a:solidFill>
            <a:srgbClr val="1B243A"/>
          </a:solidFill>
          <a:ln>
            <a:solidFill>
              <a:srgbClr val="1B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35808" y="4416552"/>
            <a:ext cx="147218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6F8FC"/>
                </a:solidFill>
                <a:latin typeface="Liberation Sans"/>
              </a:rPr>
              <a:t>Withdrawal value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40680" y="4526280"/>
            <a:ext cx="1280160" cy="0"/>
          </a:xfrm>
          <a:prstGeom prst="line">
            <a:avLst/>
          </a:prstGeom>
          <a:ln w="19050">
            <a:solidFill>
              <a:srgbClr val="AAB4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635240" y="3154680"/>
            <a:ext cx="3794760" cy="192024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09560" y="3401568"/>
            <a:ext cx="31546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C857"/>
                </a:solidFill>
                <a:latin typeface="Liberation Sans"/>
              </a:rPr>
              <a:t>Descriptive use only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9560" y="3822191"/>
            <a:ext cx="292608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AAB4C5"/>
                </a:solidFill>
                <a:latin typeface="Liberation Sans"/>
              </a:rPr>
              <a:t>• No credit decision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9560" y="4114800"/>
            <a:ext cx="292608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AAB4C5"/>
                </a:solidFill>
                <a:latin typeface="Liberation Sans"/>
              </a:rPr>
              <a:t>• No AML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60" y="4407407"/>
            <a:ext cx="292608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AAB4C5"/>
                </a:solidFill>
                <a:latin typeface="Liberation Sans"/>
              </a:rPr>
              <a:t>• No eligibility decision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09560" y="4700016"/>
            <a:ext cx="292608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AAB4C5"/>
                </a:solidFill>
                <a:latin typeface="Liberation Sans"/>
              </a:rPr>
              <a:t>• No adverse action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5559552"/>
            <a:ext cx="10652760" cy="594360"/>
          </a:xfrm>
          <a:prstGeom prst="roundRect">
            <a:avLst/>
          </a:prstGeom>
          <a:solidFill>
            <a:srgbClr val="1B243A"/>
          </a:solidFill>
          <a:ln>
            <a:solidFill>
              <a:srgbClr val="54D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7240" y="5559552"/>
            <a:ext cx="54864" cy="594360"/>
          </a:xfrm>
          <a:prstGeom prst="rect">
            <a:avLst/>
          </a:prstGeom>
          <a:solidFill>
            <a:srgbClr val="54D39B"/>
          </a:solidFill>
          <a:ln>
            <a:solidFill>
              <a:srgbClr val="54D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5687568"/>
            <a:ext cx="10332720" cy="3749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6F8FC"/>
                </a:solidFill>
                <a:latin typeface="Liberation Sans"/>
              </a:rPr>
              <a:t>Normal Agent SQL never reads customer_segment_gt. Segments are built from observable behavior.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19672"/>
            <a:ext cx="86868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AB4C5"/>
                </a:solidFill>
                <a:latin typeface="Liberation Sans"/>
              </a:rPr>
              <a:t>FitzSight · GOAI 2026 · Boundless Agents · AI+金融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473952"/>
            <a:ext cx="4572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AB4C5"/>
                </a:solidFill>
                <a:latin typeface="Liberation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8521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8D3FF"/>
                </a:solidFill>
                <a:latin typeface="Liberation Sans"/>
              </a:rPr>
              <a:t>MARKETING / SALES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6F8FC"/>
                </a:solidFill>
                <a:latin typeface="Liberation Sans"/>
              </a:rPr>
              <a:t>Demo 4 — More leads ≠ better acquisition quality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37360"/>
            <a:ext cx="2103120" cy="105156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883664"/>
            <a:ext cx="1773936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AB4C5"/>
                </a:solidFill>
                <a:latin typeface="Liberation Sans"/>
              </a:rPr>
              <a:t>Lead volume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231136"/>
            <a:ext cx="1773936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54D39B"/>
                </a:solidFill>
                <a:latin typeface="Liberation Sans"/>
              </a:rPr>
              <a:t>+315%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737360"/>
            <a:ext cx="2103120" cy="105156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90672" y="1883664"/>
            <a:ext cx="1773936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AB4C5"/>
                </a:solidFill>
                <a:latin typeface="Liberation Sans"/>
              </a:rPr>
              <a:t>Aggregate FTD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0672" y="2231136"/>
            <a:ext cx="1773936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6B6B"/>
                </a:solidFill>
                <a:latin typeface="Liberation Sans"/>
              </a:rPr>
              <a:t>-10.84 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60" y="1737360"/>
            <a:ext cx="2103120" cy="105156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30952" y="1883664"/>
            <a:ext cx="1773936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AB4C5"/>
                </a:solidFill>
                <a:latin typeface="Liberation Sans"/>
              </a:rPr>
              <a:t>Paid Search mix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0952" y="2231136"/>
            <a:ext cx="1773936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C857"/>
                </a:solidFill>
                <a:latin typeface="Liberation Sans"/>
              </a:rPr>
              <a:t>+60.52 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737360"/>
            <a:ext cx="2103120" cy="105156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71231" y="1883664"/>
            <a:ext cx="1773936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AB4C5"/>
                </a:solidFill>
                <a:latin typeface="Liberation Sans"/>
              </a:rPr>
              <a:t>Paid Search FTD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71231" y="2231136"/>
            <a:ext cx="1773936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6B6B"/>
                </a:solidFill>
                <a:latin typeface="Liberation Sans"/>
              </a:rPr>
              <a:t>-16.44 pp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46920" y="1737360"/>
            <a:ext cx="1783080" cy="105156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11512" y="1883664"/>
            <a:ext cx="1453895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AB4C5"/>
                </a:solidFill>
                <a:latin typeface="Liberation Sans"/>
              </a:rPr>
              <a:t>p-value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11512" y="2231136"/>
            <a:ext cx="1453895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54D39B"/>
                </a:solidFill>
                <a:latin typeface="Liberation Sans"/>
              </a:rPr>
              <a:t>4.43e-05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154680"/>
            <a:ext cx="10652760" cy="192024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401568"/>
            <a:ext cx="38404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58D3FF"/>
                </a:solidFill>
                <a:latin typeface="Liberation Sans"/>
              </a:rPr>
              <a:t>FitzSight separates three questions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3886200"/>
            <a:ext cx="1920240" cy="658368"/>
          </a:xfrm>
          <a:prstGeom prst="roundRect">
            <a:avLst/>
          </a:prstGeom>
          <a:solidFill>
            <a:srgbClr val="1B243A"/>
          </a:solidFill>
          <a:ln>
            <a:solidFill>
              <a:srgbClr val="54D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24712" y="4041648"/>
            <a:ext cx="177393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6F8FC"/>
                </a:solidFill>
                <a:latin typeface="Liberation Sans"/>
              </a:rPr>
              <a:t>1. Volume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03320" y="3886200"/>
            <a:ext cx="2194560" cy="658368"/>
          </a:xfrm>
          <a:prstGeom prst="roundRect">
            <a:avLst/>
          </a:prstGeom>
          <a:solidFill>
            <a:srgbClr val="1B243A"/>
          </a:solidFill>
          <a:ln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76472" y="4041648"/>
            <a:ext cx="2048255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6F8FC"/>
                </a:solidFill>
                <a:latin typeface="Liberation Sans"/>
              </a:rPr>
              <a:t>2. Channel mix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3749039"/>
            <a:ext cx="2560320" cy="658368"/>
          </a:xfrm>
          <a:prstGeom prst="roundRect">
            <a:avLst/>
          </a:prstGeom>
          <a:solidFill>
            <a:srgbClr val="1B243A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48272" y="3904487"/>
            <a:ext cx="2414015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6F8FC"/>
                </a:solidFill>
                <a:latin typeface="Liberation Sans"/>
              </a:rPr>
              <a:t>3. Within-channel
performance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971800" y="4215384"/>
            <a:ext cx="685800" cy="0"/>
          </a:xfrm>
          <a:prstGeom prst="line">
            <a:avLst/>
          </a:prstGeom>
          <a:ln w="17780">
            <a:solidFill>
              <a:srgbClr val="AAB4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897880" y="4215384"/>
            <a:ext cx="731520" cy="0"/>
          </a:xfrm>
          <a:prstGeom prst="line">
            <a:avLst/>
          </a:prstGeom>
          <a:ln w="17780">
            <a:solidFill>
              <a:srgbClr val="AAB4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51560" y="4645152"/>
            <a:ext cx="96926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6F8FC"/>
                </a:solidFill>
                <a:latin typeface="Liberation Sans"/>
              </a:rPr>
              <a:t>Paid Search is the measurable quality failure — not simply a high lead count.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519672"/>
            <a:ext cx="86868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AB4C5"/>
                </a:solidFill>
                <a:latin typeface="Liberation Sans"/>
              </a:rPr>
              <a:t>FitzSight · GOAI 2026 · Boundless Agents · AI+金融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73952"/>
            <a:ext cx="4572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AB4C5"/>
                </a:solidFill>
                <a:latin typeface="Liberation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8521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8D3FF"/>
                </a:solidFill>
                <a:latin typeface="Liberation Sans"/>
              </a:rPr>
              <a:t>FALSE-CORRELATION GUARDRAIL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6F8FC"/>
                </a:solidFill>
                <a:latin typeface="Liberation Sans"/>
              </a:rPr>
              <a:t>Demo 5 — The system is tested on explanations it refuses to make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37360"/>
            <a:ext cx="2057400" cy="105156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883664"/>
            <a:ext cx="1728216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AB4C5"/>
                </a:solidFill>
                <a:latin typeface="Liberation Sans"/>
              </a:rPr>
              <a:t>Asia FTD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231136"/>
            <a:ext cx="1728216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6B6B"/>
                </a:solidFill>
                <a:latin typeface="Liberation Sans"/>
              </a:rPr>
              <a:t>-8.13 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1737360"/>
            <a:ext cx="2057400" cy="105156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2" y="1883664"/>
            <a:ext cx="1728216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AB4C5"/>
                </a:solidFill>
                <a:latin typeface="Liberation Sans"/>
              </a:rPr>
              <a:t>Affiliate FTD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4952" y="2231136"/>
            <a:ext cx="1728216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6B6B"/>
                </a:solidFill>
                <a:latin typeface="Liberation Sans"/>
              </a:rPr>
              <a:t>-15.81 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4920" y="1737360"/>
            <a:ext cx="2057400" cy="105156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1883664"/>
            <a:ext cx="1728216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AB4C5"/>
                </a:solidFill>
                <a:latin typeface="Liberation Sans"/>
              </a:rPr>
              <a:t>Affiliate 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9512" y="2231136"/>
            <a:ext cx="1728216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54D39B"/>
                </a:solidFill>
                <a:latin typeface="Liberation Sans"/>
              </a:rPr>
              <a:t>0.00463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1737360"/>
            <a:ext cx="2057400" cy="105156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34072" y="1883664"/>
            <a:ext cx="1728216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AB4C5"/>
                </a:solidFill>
                <a:latin typeface="Liberation Sans"/>
              </a:rPr>
              <a:t>Nearby event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34072" y="2231136"/>
            <a:ext cx="1728216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C857"/>
                </a:solidFill>
                <a:latin typeface="Liberation Sans"/>
              </a:rPr>
              <a:t>Office Relocation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64040" y="1737360"/>
            <a:ext cx="1965960" cy="105156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28632" y="1883664"/>
            <a:ext cx="1636776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AB4C5"/>
                </a:solidFill>
                <a:latin typeface="Liberation Sans"/>
              </a:rPr>
              <a:t>Causal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8632" y="2231136"/>
            <a:ext cx="1636776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54D39B"/>
                </a:solidFill>
                <a:latin typeface="Liberation Sans"/>
              </a:rPr>
              <a:t>FALSE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154680"/>
            <a:ext cx="10652760" cy="210312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383280"/>
            <a:ext cx="20116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C857"/>
                </a:solidFill>
                <a:latin typeface="Liberation Sans"/>
              </a:rPr>
              <a:t>Tempting story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3794760"/>
            <a:ext cx="2011680" cy="658368"/>
          </a:xfrm>
          <a:prstGeom prst="roundRect">
            <a:avLst/>
          </a:prstGeom>
          <a:solidFill>
            <a:srgbClr val="1B243A"/>
          </a:solidFill>
          <a:ln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24712" y="3950208"/>
            <a:ext cx="186537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6F8FC"/>
                </a:solidFill>
                <a:latin typeface="Liberation Sans"/>
              </a:rPr>
              <a:t>Office relocation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08960" y="4114800"/>
            <a:ext cx="914400" cy="0"/>
          </a:xfrm>
          <a:prstGeom prst="line">
            <a:avLst/>
          </a:prstGeom>
          <a:ln w="19050">
            <a:solidFill>
              <a:srgbClr val="FFC8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069080" y="3794760"/>
            <a:ext cx="1645920" cy="658368"/>
          </a:xfrm>
          <a:prstGeom prst="roundRect">
            <a:avLst/>
          </a:prstGeom>
          <a:solidFill>
            <a:srgbClr val="1B243A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42232" y="3950208"/>
            <a:ext cx="149961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6F8FC"/>
                </a:solidFill>
                <a:latin typeface="Liberation Sans"/>
              </a:rPr>
              <a:t>Asia FTD 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15968" y="4617720"/>
            <a:ext cx="10972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6B6B"/>
                </a:solidFill>
                <a:latin typeface="Liberation Sans"/>
              </a:rPr>
              <a:t>Rejected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383280"/>
            <a:ext cx="23774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58D3FF"/>
                </a:solidFill>
                <a:latin typeface="Liberation Sans"/>
              </a:rPr>
              <a:t>Measured evidence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60" y="3794760"/>
            <a:ext cx="2148840" cy="658368"/>
          </a:xfrm>
          <a:prstGeom prst="roundRect">
            <a:avLst/>
          </a:prstGeom>
          <a:solidFill>
            <a:srgbClr val="1B243A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11112" y="3950208"/>
            <a:ext cx="200253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6F8FC"/>
                </a:solidFill>
                <a:latin typeface="Liberation Sans"/>
              </a:rPr>
              <a:t>Affiliate quality ↓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732520" y="4114800"/>
            <a:ext cx="731520" cy="0"/>
          </a:xfrm>
          <a:prstGeom prst="line">
            <a:avLst/>
          </a:prstGeom>
          <a:ln w="19050">
            <a:solidFill>
              <a:srgbClr val="58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509760" y="3794760"/>
            <a:ext cx="1508760" cy="658368"/>
          </a:xfrm>
          <a:prstGeom prst="roundRect">
            <a:avLst/>
          </a:prstGeom>
          <a:solidFill>
            <a:srgbClr val="1B243A"/>
          </a:solidFill>
          <a:ln>
            <a:solidFill>
              <a:srgbClr val="54D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82912" y="3950208"/>
            <a:ext cx="136245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6F8FC"/>
                </a:solidFill>
                <a:latin typeface="Liberation Sans"/>
              </a:rPr>
              <a:t>Supported driver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623560"/>
            <a:ext cx="10652760" cy="566928"/>
          </a:xfrm>
          <a:prstGeom prst="roundRect">
            <a:avLst/>
          </a:prstGeom>
          <a:solidFill>
            <a:srgbClr val="1B243A"/>
          </a:solidFill>
          <a:ln>
            <a:solidFill>
              <a:srgbClr val="54D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" y="5623560"/>
            <a:ext cx="54864" cy="566928"/>
          </a:xfrm>
          <a:prstGeom prst="rect">
            <a:avLst/>
          </a:prstGeom>
          <a:solidFill>
            <a:srgbClr val="54D39B"/>
          </a:solidFill>
          <a:ln>
            <a:solidFill>
              <a:srgbClr val="54D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51576"/>
            <a:ext cx="1033272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6F8FC"/>
                </a:solidFill>
                <a:latin typeface="Liberation Sans"/>
              </a:rPr>
              <a:t>Temporal proximity is context, not proof. FitzSight runs a falsification check before attribution.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519672"/>
            <a:ext cx="86868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AB4C5"/>
                </a:solidFill>
                <a:latin typeface="Liberation Sans"/>
              </a:rPr>
              <a:t>FitzSight · GOAI 2026 · Boundless Agents · AI+金融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6473952"/>
            <a:ext cx="4572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AB4C5"/>
                </a:solidFill>
                <a:latin typeface="Liberation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8521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8D3FF"/>
                </a:solidFill>
                <a:latin typeface="Liberation Sans"/>
              </a:rPr>
              <a:t>TECHNICAL DIFFERENTIATION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6F8FC"/>
                </a:solidFill>
                <a:latin typeface="Liberation Sans"/>
              </a:rPr>
              <a:t>Four trust boundaries make the Agent auditable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5166360" cy="1463040"/>
          </a:xfrm>
          <a:prstGeom prst="roundRect">
            <a:avLst/>
          </a:prstGeom>
          <a:solidFill>
            <a:srgbClr val="141B2D"/>
          </a:solidFill>
          <a:ln>
            <a:solidFill>
              <a:srgbClr val="58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457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58D3FF"/>
                </a:solidFill>
                <a:latin typeface="Liberation San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947672"/>
            <a:ext cx="3977639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6F8FC"/>
                </a:solidFill>
                <a:latin typeface="Liberation Sans"/>
              </a:rPr>
              <a:t>Local intent 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386584"/>
            <a:ext cx="3977639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B4C5"/>
                </a:solidFill>
                <a:latin typeface="Liberation Sans"/>
              </a:rPr>
              <a:t>Unsupported questions are refused before a model call.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83080"/>
            <a:ext cx="5166360" cy="1463040"/>
          </a:xfrm>
          <a:prstGeom prst="roundRect">
            <a:avLst/>
          </a:prstGeom>
          <a:solidFill>
            <a:srgbClr val="141B2D"/>
          </a:solidFill>
          <a:ln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65960"/>
            <a:ext cx="457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C857"/>
                </a:solidFill>
                <a:latin typeface="Liberation San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947672"/>
            <a:ext cx="3977639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6F8FC"/>
                </a:solidFill>
                <a:latin typeface="Liberation Sans"/>
              </a:rPr>
              <a:t>Constrained planner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386584"/>
            <a:ext cx="3977639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B4C5"/>
                </a:solidFill>
                <a:latin typeface="Liberation Sans"/>
              </a:rPr>
              <a:t>Only approved high-level actions; no SQL or arbitrary tool args.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57600"/>
            <a:ext cx="5166360" cy="1463040"/>
          </a:xfrm>
          <a:prstGeom prst="roundRect">
            <a:avLst/>
          </a:prstGeom>
          <a:solidFill>
            <a:srgbClr val="141B2D"/>
          </a:solidFill>
          <a:ln>
            <a:solidFill>
              <a:srgbClr val="54D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40480"/>
            <a:ext cx="457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54D39B"/>
                </a:solidFill>
                <a:latin typeface="Liberation San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822191"/>
            <a:ext cx="3977639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6F8FC"/>
                </a:solidFill>
                <a:latin typeface="Liberation Sans"/>
              </a:rPr>
              <a:t>Deterministic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261104"/>
            <a:ext cx="3977639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B4C5"/>
                </a:solidFill>
                <a:latin typeface="Liberation Sans"/>
              </a:rPr>
              <a:t>Read-only SQL / Python own calculations, tests and decompositions.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657600"/>
            <a:ext cx="5166360" cy="1463040"/>
          </a:xfrm>
          <a:prstGeom prst="roundRect">
            <a:avLst/>
          </a:prstGeom>
          <a:solidFill>
            <a:srgbClr val="141B2D"/>
          </a:solidFill>
          <a:ln>
            <a:solidFill>
              <a:srgbClr val="58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840480"/>
            <a:ext cx="457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58D3FF"/>
                </a:solidFill>
                <a:latin typeface="Liberation San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822191"/>
            <a:ext cx="3977639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6F8FC"/>
                </a:solidFill>
                <a:latin typeface="Liberation Sans"/>
              </a:rPr>
              <a:t>Claim verifier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261104"/>
            <a:ext cx="3977639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B4C5"/>
                </a:solidFill>
                <a:latin typeface="Liberation Sans"/>
              </a:rPr>
              <a:t>Evidence IDs, digest/status, ground-truth boundary and causal language.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669280"/>
            <a:ext cx="10652760" cy="548640"/>
          </a:xfrm>
          <a:prstGeom prst="roundRect">
            <a:avLst/>
          </a:prstGeom>
          <a:solidFill>
            <a:srgbClr val="1B243A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5669280"/>
            <a:ext cx="54864" cy="54864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797296"/>
            <a:ext cx="1033272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6F8FC"/>
                </a:solidFill>
                <a:latin typeface="Liberation Sans"/>
              </a:rPr>
              <a:t>Verification fails → FitzSight withholds the analytical answer.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519672"/>
            <a:ext cx="86868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AB4C5"/>
                </a:solidFill>
                <a:latin typeface="Liberation Sans"/>
              </a:rPr>
              <a:t>FitzSight · GOAI 2026 · Boundless Agents · AI+金融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73952"/>
            <a:ext cx="4572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AB4C5"/>
                </a:solidFill>
                <a:latin typeface="Liberation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8521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8D3FF"/>
                </a:solidFill>
                <a:latin typeface="Liberation Sans"/>
              </a:rPr>
              <a:t>BENCHMARK &amp; ADVERSARIAL RELEASE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6F8FC"/>
                </a:solidFill>
                <a:latin typeface="Liberation Sans"/>
              </a:rPr>
              <a:t>Evaluation measures correctness, evidence quality — and safe refusal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83080"/>
            <a:ext cx="2514600" cy="109728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929384"/>
            <a:ext cx="2185416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AB4C5"/>
                </a:solidFill>
                <a:latin typeface="Liberation Sans"/>
              </a:rPr>
              <a:t>Benchmark scenarios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276856"/>
            <a:ext cx="2185416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54D39B"/>
                </a:solidFill>
                <a:latin typeface="Liberation Sans"/>
              </a:rPr>
              <a:t>5 / 5 PASS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783080"/>
            <a:ext cx="2514600" cy="109728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47872" y="1929384"/>
            <a:ext cx="2185416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AB4C5"/>
                </a:solidFill>
                <a:latin typeface="Liberation Sans"/>
              </a:rPr>
              <a:t>Root-cause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2276856"/>
            <a:ext cx="2185416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54D39B"/>
                </a:solidFill>
                <a:latin typeface="Liberation Sans"/>
              </a:rPr>
              <a:t>100%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783080"/>
            <a:ext cx="2514600" cy="109728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5352" y="1929384"/>
            <a:ext cx="2185416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AB4C5"/>
                </a:solidFill>
                <a:latin typeface="Liberation Sans"/>
              </a:rPr>
              <a:t>Evidence coverage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2276856"/>
            <a:ext cx="2185416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54D39B"/>
                </a:solidFill>
                <a:latin typeface="Liberation Sans"/>
              </a:rPr>
              <a:t>100%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0" y="1783080"/>
            <a:ext cx="2651760" cy="109728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42832" y="1929384"/>
            <a:ext cx="2322576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AB4C5"/>
                </a:solidFill>
                <a:latin typeface="Liberation Sans"/>
              </a:rPr>
              <a:t>Verifier violations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42832" y="2276856"/>
            <a:ext cx="2322576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54D39B"/>
                </a:solidFill>
                <a:latin typeface="Liberation Sans"/>
              </a:rPr>
              <a:t>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46120"/>
            <a:ext cx="5212080" cy="201168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474720"/>
            <a:ext cx="30175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58D3FF"/>
                </a:solidFill>
                <a:latin typeface="Liberation Sans"/>
              </a:rPr>
              <a:t>5 deterministic scenarios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3886200"/>
            <a:ext cx="2057400" cy="329184"/>
          </a:xfrm>
          <a:prstGeom prst="roundRect">
            <a:avLst/>
          </a:prstGeom>
          <a:solidFill>
            <a:srgbClr val="1B243A"/>
          </a:solidFill>
          <a:ln>
            <a:solidFill>
              <a:srgbClr val="1B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" y="3959352"/>
            <a:ext cx="18379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6F8FC"/>
                </a:solidFill>
                <a:latin typeface="Liberation Sans"/>
              </a:rPr>
              <a:t>CRM routing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39" y="3886200"/>
            <a:ext cx="2057400" cy="329184"/>
          </a:xfrm>
          <a:prstGeom prst="roundRect">
            <a:avLst/>
          </a:prstGeom>
          <a:solidFill>
            <a:srgbClr val="1B243A"/>
          </a:solidFill>
          <a:ln>
            <a:solidFill>
              <a:srgbClr val="1B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01568" y="3959352"/>
            <a:ext cx="18379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6F8FC"/>
                </a:solidFill>
                <a:latin typeface="Liberation Sans"/>
              </a:rPr>
              <a:t>Net deposits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" y="4279392"/>
            <a:ext cx="2057400" cy="329184"/>
          </a:xfrm>
          <a:prstGeom prst="roundRect">
            <a:avLst/>
          </a:prstGeom>
          <a:solidFill>
            <a:srgbClr val="1B243A"/>
          </a:solidFill>
          <a:ln>
            <a:solidFill>
              <a:srgbClr val="1B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9848" y="4352544"/>
            <a:ext cx="18379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6F8FC"/>
                </a:solidFill>
                <a:latin typeface="Liberation Sans"/>
              </a:rPr>
              <a:t>Customer Intelligence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39" y="4279392"/>
            <a:ext cx="2057400" cy="329184"/>
          </a:xfrm>
          <a:prstGeom prst="roundRect">
            <a:avLst/>
          </a:prstGeom>
          <a:solidFill>
            <a:srgbClr val="1B243A"/>
          </a:solidFill>
          <a:ln>
            <a:solidFill>
              <a:srgbClr val="1B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01568" y="4352544"/>
            <a:ext cx="18379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6F8FC"/>
                </a:solidFill>
                <a:latin typeface="Liberation Sans"/>
              </a:rPr>
              <a:t>Lead quality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" y="4672584"/>
            <a:ext cx="2057400" cy="329184"/>
          </a:xfrm>
          <a:prstGeom prst="roundRect">
            <a:avLst/>
          </a:prstGeom>
          <a:solidFill>
            <a:srgbClr val="1B243A"/>
          </a:solidFill>
          <a:ln>
            <a:solidFill>
              <a:srgbClr val="1B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9848" y="4745736"/>
            <a:ext cx="18379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6F8FC"/>
                </a:solidFill>
                <a:latin typeface="Liberation Sans"/>
              </a:rPr>
              <a:t>False correlation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246120"/>
            <a:ext cx="5212080" cy="201168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474720"/>
            <a:ext cx="38404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C857"/>
                </a:solidFill>
                <a:latin typeface="Liberation Sans"/>
              </a:rPr>
              <a:t>8 adversarial cases / 8 PASS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46520" y="3886200"/>
            <a:ext cx="2057400" cy="329184"/>
          </a:xfrm>
          <a:prstGeom prst="roundRect">
            <a:avLst/>
          </a:prstGeom>
          <a:solidFill>
            <a:srgbClr val="1B243A"/>
          </a:solidFill>
          <a:ln>
            <a:solidFill>
              <a:srgbClr val="1B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56248" y="3959352"/>
            <a:ext cx="18379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AAB4C5"/>
                </a:solidFill>
                <a:latin typeface="Liberation Sans"/>
              </a:rPr>
              <a:t>Scope refusal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8240" y="3886200"/>
            <a:ext cx="2057400" cy="329184"/>
          </a:xfrm>
          <a:prstGeom prst="roundRect">
            <a:avLst/>
          </a:prstGeom>
          <a:solidFill>
            <a:srgbClr val="1B243A"/>
          </a:solidFill>
          <a:ln>
            <a:solidFill>
              <a:srgbClr val="1B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87967" y="3959352"/>
            <a:ext cx="18379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AAB4C5"/>
                </a:solidFill>
                <a:latin typeface="Liberation Sans"/>
              </a:rPr>
              <a:t>Planner policy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46520" y="4279392"/>
            <a:ext cx="2057400" cy="329184"/>
          </a:xfrm>
          <a:prstGeom prst="roundRect">
            <a:avLst/>
          </a:prstGeom>
          <a:solidFill>
            <a:srgbClr val="1B243A"/>
          </a:solidFill>
          <a:ln>
            <a:solidFill>
              <a:srgbClr val="1B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56248" y="4352544"/>
            <a:ext cx="18379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AAB4C5"/>
                </a:solidFill>
                <a:latin typeface="Liberation Sans"/>
              </a:rPr>
              <a:t>Missing evidence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78240" y="4279392"/>
            <a:ext cx="2057400" cy="329184"/>
          </a:xfrm>
          <a:prstGeom prst="roundRect">
            <a:avLst/>
          </a:prstGeom>
          <a:solidFill>
            <a:srgbClr val="1B243A"/>
          </a:solidFill>
          <a:ln>
            <a:solidFill>
              <a:srgbClr val="1B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87967" y="4352544"/>
            <a:ext cx="18379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AAB4C5"/>
                </a:solidFill>
                <a:latin typeface="Liberation Sans"/>
              </a:rPr>
              <a:t>Causal overclaim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46520" y="4672584"/>
            <a:ext cx="2057400" cy="329184"/>
          </a:xfrm>
          <a:prstGeom prst="roundRect">
            <a:avLst/>
          </a:prstGeom>
          <a:solidFill>
            <a:srgbClr val="1B243A"/>
          </a:solidFill>
          <a:ln>
            <a:solidFill>
              <a:srgbClr val="1B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56248" y="4745736"/>
            <a:ext cx="18379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AAB4C5"/>
                </a:solidFill>
                <a:latin typeface="Liberation Sans"/>
              </a:rPr>
              <a:t>_gt leakage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778240" y="4672584"/>
            <a:ext cx="2057400" cy="329184"/>
          </a:xfrm>
          <a:prstGeom prst="roundRect">
            <a:avLst/>
          </a:prstGeom>
          <a:solidFill>
            <a:srgbClr val="1B243A"/>
          </a:solidFill>
          <a:ln>
            <a:solidFill>
              <a:srgbClr val="1B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87967" y="4745736"/>
            <a:ext cx="18379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AAB4C5"/>
                </a:solidFill>
                <a:latin typeface="Liberation Sans"/>
              </a:rPr>
              <a:t>False correlation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" y="5623560"/>
            <a:ext cx="10652760" cy="566928"/>
          </a:xfrm>
          <a:prstGeom prst="roundRect">
            <a:avLst/>
          </a:prstGeom>
          <a:solidFill>
            <a:srgbClr val="1B243A"/>
          </a:solidFill>
          <a:ln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7240" y="5623560"/>
            <a:ext cx="54864" cy="566928"/>
          </a:xfrm>
          <a:prstGeom prst="rect">
            <a:avLst/>
          </a:prstGeom>
          <a:solidFill>
            <a:srgbClr val="FFC857"/>
          </a:solidFill>
          <a:ln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0120" y="5751576"/>
            <a:ext cx="1033272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6F8FC"/>
                </a:solidFill>
                <a:latin typeface="Liberation Sans"/>
              </a:rPr>
              <a:t>The release gate rewards the system for refusing unsupported answers, not only producing correct ones.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519672"/>
            <a:ext cx="86868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AB4C5"/>
                </a:solidFill>
                <a:latin typeface="Liberation Sans"/>
              </a:rPr>
              <a:t>FitzSight · GOAI 2026 · Boundless Agents · AI+金融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473952"/>
            <a:ext cx="4572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AB4C5"/>
                </a:solidFill>
                <a:latin typeface="Liberation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8521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8D3FF"/>
                </a:solidFill>
                <a:latin typeface="Liberation Sans"/>
              </a:rPr>
              <a:t>OPEN SOURCE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78992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6F8FC"/>
                </a:solidFill>
                <a:latin typeface="Liberation Sans"/>
              </a:rPr>
              <a:t>Safety, compliance and reproducibility are product constraints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669280" cy="434340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93392"/>
            <a:ext cx="31089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58D3FF"/>
                </a:solidFill>
                <a:latin typeface="Liberation Sans"/>
              </a:rPr>
              <a:t>Operational boundaries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2487168"/>
            <a:ext cx="5029200" cy="4023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6F8FC"/>
                </a:solidFill>
                <a:latin typeface="Liberation Sans"/>
              </a:rPr>
              <a:t>• Synthetic benchmark data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3054096"/>
            <a:ext cx="5029200" cy="4023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6F8FC"/>
                </a:solidFill>
                <a:latin typeface="Liberation Sans"/>
              </a:rPr>
              <a:t>• No real customer PII or employer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621024"/>
            <a:ext cx="5029200" cy="4023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6F8FC"/>
                </a:solidFill>
                <a:latin typeface="Liberation Sans"/>
              </a:rPr>
              <a:t>• No investment advice or trading 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4187952"/>
            <a:ext cx="5029200" cy="4023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6F8FC"/>
                </a:solidFill>
                <a:latin typeface="Liberation Sans"/>
              </a:rPr>
              <a:t>• No automated AML / credit / suitability decisions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4754880"/>
            <a:ext cx="5029200" cy="4023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6F8FC"/>
                </a:solidFill>
                <a:latin typeface="Liberation Sans"/>
              </a:rPr>
              <a:t>• Evaluation-only *_gt fields blocked from normal Agent 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1737360"/>
            <a:ext cx="4709160" cy="434340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1993392"/>
            <a:ext cx="2560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54D39B"/>
                </a:solidFill>
                <a:latin typeface="Liberation Sans"/>
              </a:rPr>
              <a:t>Reproducibility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2514600"/>
            <a:ext cx="1828800" cy="91440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59752" y="2660904"/>
            <a:ext cx="1499616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AB4C5"/>
                </a:solidFill>
                <a:latin typeface="Liberation Sans"/>
              </a:rPr>
              <a:t>License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9752" y="3008376"/>
            <a:ext cx="1499616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54D39B"/>
                </a:solidFill>
                <a:latin typeface="Liberation Sans"/>
              </a:rPr>
              <a:t>MIT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2514600"/>
            <a:ext cx="2057400" cy="91440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71432" y="2660904"/>
            <a:ext cx="1728216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AB4C5"/>
                </a:solidFill>
                <a:latin typeface="Liberation Sans"/>
              </a:rP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71432" y="3008376"/>
            <a:ext cx="1728216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58D3FF"/>
                </a:solidFill>
                <a:latin typeface="Liberation Sans"/>
              </a:rPr>
              <a:t>DuckDB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95160" y="3657600"/>
            <a:ext cx="1828800" cy="91440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59752" y="3803904"/>
            <a:ext cx="1499616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AB4C5"/>
                </a:solidFill>
                <a:latin typeface="Liberation Sans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9752" y="4151376"/>
            <a:ext cx="1499616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C857"/>
                </a:solidFill>
                <a:latin typeface="Liberation Sans"/>
              </a:rPr>
              <a:t>SQLite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40" y="3657600"/>
            <a:ext cx="2057400" cy="91440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71432" y="3803904"/>
            <a:ext cx="1728216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AB4C5"/>
                </a:solidFill>
                <a:latin typeface="Liberation Sans"/>
              </a:rPr>
              <a:t>Planner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4151376"/>
            <a:ext cx="1728216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54D39B"/>
                </a:solidFill>
                <a:latin typeface="Liberation Sans"/>
              </a:rPr>
              <a:t>Local fallback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4892040"/>
            <a:ext cx="12801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AB4C5"/>
                </a:solidFill>
                <a:latin typeface="Liberation Sans"/>
              </a:rPr>
              <a:t>Public repo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5230368"/>
            <a:ext cx="3749039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8D3FF"/>
                </a:solidFill>
                <a:latin typeface="Liberation Sans"/>
              </a:rPr>
              <a:t>github.com/AplusNeutrino/FitzSight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519672"/>
            <a:ext cx="86868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AB4C5"/>
                </a:solidFill>
                <a:latin typeface="Liberation Sans"/>
              </a:rPr>
              <a:t>FitzSight · GOAI 2026 · Boundless Agents · AI+金融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73952"/>
            <a:ext cx="4572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AB4C5"/>
                </a:solidFill>
                <a:latin typeface="Liberation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27432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58D3FF"/>
                </a:solidFill>
                <a:latin typeface="Liberation Sans"/>
              </a:rPr>
              <a:t>FITZSIGHT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9966960" cy="1234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6F8FC"/>
                </a:solidFill>
                <a:latin typeface="Liberation Sans"/>
              </a:rPr>
              <a:t>BI tells you what changed.
FitzSight investigates why the measurable evidence changed.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063240"/>
            <a:ext cx="9875520" cy="777240"/>
          </a:xfrm>
          <a:prstGeom prst="roundRect">
            <a:avLst/>
          </a:prstGeom>
          <a:solidFill>
            <a:srgbClr val="1B243A"/>
          </a:solidFill>
          <a:ln>
            <a:solidFill>
              <a:srgbClr val="54D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3063240"/>
            <a:ext cx="54864" cy="777240"/>
          </a:xfrm>
          <a:prstGeom prst="rect">
            <a:avLst/>
          </a:prstGeom>
          <a:solidFill>
            <a:srgbClr val="54D39B"/>
          </a:solidFill>
          <a:ln>
            <a:solidFill>
              <a:srgbClr val="54D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191256"/>
            <a:ext cx="9555480" cy="5577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6F8FC"/>
                </a:solidFill>
                <a:latin typeface="Liberation Sans"/>
              </a:rPr>
              <a:t>A reproducible financial investigation you can inspect, verify, challenge — and sometimes refuse.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43400"/>
            <a:ext cx="2240280" cy="105156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4489704"/>
            <a:ext cx="1911096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AB4C5"/>
                </a:solidFill>
                <a:latin typeface="Liberation Sans"/>
              </a:rPr>
              <a:t>Agent intents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4837176"/>
            <a:ext cx="1911096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58D3FF"/>
                </a:solidFill>
                <a:latin typeface="Liberation Sans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4343400"/>
            <a:ext cx="2240280" cy="105156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9272" y="4489704"/>
            <a:ext cx="1911096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AB4C5"/>
                </a:solidFill>
                <a:latin typeface="Liberation Sans"/>
              </a:rPr>
              <a:t>Benchmark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9272" y="4837176"/>
            <a:ext cx="1911096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54D39B"/>
                </a:solidFill>
                <a:latin typeface="Liberation Sans"/>
              </a:rPr>
              <a:t>5 / 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0" y="4343400"/>
            <a:ext cx="2240280" cy="105156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42431" y="4489704"/>
            <a:ext cx="1911096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AB4C5"/>
                </a:solidFill>
                <a:latin typeface="Liberation Sans"/>
              </a:rPr>
              <a:t>Adversarial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42431" y="4837176"/>
            <a:ext cx="1911096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C857"/>
                </a:solidFill>
                <a:latin typeface="Liberation Sans"/>
              </a:rPr>
              <a:t>8 / 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4343400"/>
            <a:ext cx="2606040" cy="1051560"/>
          </a:xfrm>
          <a:prstGeom prst="roundRect">
            <a:avLst/>
          </a:prstGeom>
          <a:solidFill>
            <a:srgbClr val="141B2D"/>
          </a:solidFill>
          <a:ln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2" y="4489704"/>
            <a:ext cx="2276856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AB4C5"/>
                </a:solidFill>
                <a:latin typeface="Liberation Sans"/>
              </a:rPr>
              <a:t>Evidence coverage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2" y="4837176"/>
            <a:ext cx="2276856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54D39B"/>
                </a:solidFill>
                <a:latin typeface="Liberation Sans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870448"/>
            <a:ext cx="97840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AB4C5"/>
                </a:solidFill>
                <a:latin typeface="Liberation Sans"/>
              </a:rPr>
              <a:t>Evidence-grounded autonomous financial operations investigation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519672"/>
            <a:ext cx="86868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AB4C5"/>
                </a:solidFill>
                <a:latin typeface="Liberation Sans"/>
              </a:rPr>
              <a:t>FitzSight · GOAI 2026 · Boundless Agents · AI+金融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73952"/>
            <a:ext cx="4572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AB4C5"/>
                </a:solidFill>
                <a:latin typeface="Liberation San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